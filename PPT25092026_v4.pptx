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3F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3F7D"/>
          </a:solidFill>
          <a:ln/>
        </p:spPr>
      </p:sp>
      <p:pic>
        <p:nvPicPr>
          <p:cNvPr id="4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7480" y="548640"/>
            <a:ext cx="1316736" cy="1316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938528"/>
            <a:ext cx="10360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Pontificia Universidad Javeriana — Bogotá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2377440"/>
            <a:ext cx="9994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Evaluación de la influencia de la Proporción Volumétrica de Bloques (VBP) en los tiempos del final de la consolidación primaria en un material tipo Bimsoil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0" y="4389120"/>
            <a:ext cx="4873752" cy="0"/>
          </a:xfrm>
          <a:prstGeom prst="line">
            <a:avLst/>
          </a:prstGeom>
          <a:noFill/>
          <a:ln w="28575">
            <a:solidFill>
              <a:srgbClr val="005CA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26080" y="4617720"/>
            <a:ext cx="6336792" cy="1554480"/>
          </a:xfrm>
          <a:prstGeom prst="roundRect">
            <a:avLst>
              <a:gd name="adj" fmla="val 3529"/>
            </a:avLst>
          </a:prstGeom>
          <a:solidFill>
            <a:srgbClr val="E8F2FA"/>
          </a:solidFill>
          <a:ln w="19050">
            <a:solidFill>
              <a:srgbClr val="B4D2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17520" y="4663440"/>
            <a:ext cx="6153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Presentado por: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Omar E. Maestre Martínez</a:t>
            </a:r>
            <a:endParaRPr lang="en-US" sz="1300" dirty="0"/>
          </a:p>
          <a:p>
            <a:pPr algn="ctr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Mauricio Porras Gutiérrez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Director — Codirector: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Ing. Alfonso M. Ramos Cañón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Ing. Andrés H. Clavijo Rincón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63093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  —  MAESTRÍA EN INGENIERÍA CIVIL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Contenido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presentación sigue el hilo de los tres objetivos específicos del trabajo.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107259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1984248"/>
            <a:ext cx="731520" cy="731520"/>
          </a:xfrm>
          <a:prstGeom prst="oval">
            <a:avLst/>
          </a:prstGeom>
          <a:solidFill>
            <a:srgbClr val="E8F2FA"/>
          </a:solidFill>
          <a:ln w="19050">
            <a:solidFill>
              <a:srgbClr val="003F7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19842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965960" y="1874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 1 — Formulación analítica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965960" y="231343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la relación entre la VBP y el coeficiente de consolidación mediante una formulación analítica (Cv,BIM).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3172968"/>
            <a:ext cx="107259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60120" y="3465576"/>
            <a:ext cx="731520" cy="731520"/>
          </a:xfrm>
          <a:prstGeom prst="oval">
            <a:avLst/>
          </a:prstGeom>
          <a:solidFill>
            <a:srgbClr val="EAF6EC"/>
          </a:solidFill>
          <a:ln w="19050">
            <a:solidFill>
              <a:srgbClr val="003F7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34655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1965960" y="33558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 2 — Validación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965960" y="3794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la validez del Cv(VBP) comparándolo con el Cv experimental (base de Clavijo R., 2022).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1520" y="4654296"/>
            <a:ext cx="107259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60120" y="4946904"/>
            <a:ext cx="731520" cy="731520"/>
          </a:xfrm>
          <a:prstGeom prst="oval">
            <a:avLst/>
          </a:prstGeom>
          <a:solidFill>
            <a:srgbClr val="EAF3FA"/>
          </a:solidFill>
          <a:ln w="19050">
            <a:solidFill>
              <a:srgbClr val="003F7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" y="49469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1965960" y="483717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 3 — Modelación numérica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965960" y="5276088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los tiempos de consolidación (t90, t100) mediante modelos de elementos finitos acoplados en RS2.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Introducción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2588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60120" y="160020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ingeniería geotécnica ha abordado la consolidación bajo el supuesto de medios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homogéneos</a:t>
            </a:r>
            <a:pPr algn="l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embargo, en campo es común encontrar materiales altamente heterogéneos, como los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BIMSOILS</a:t>
            </a:r>
            <a:pPr algn="l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(bloques rígidos embebidos en una matriz fina).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proporción volumétrica de bloques (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VBP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modifica la rigidez, los caminos de flujo y, por tanto, la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que se desarrolla la consolidación — un aspecto poco estudiado.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52360" y="1325880"/>
            <a:ext cx="4005072" cy="4480560"/>
          </a:xfrm>
          <a:prstGeom prst="roundRect">
            <a:avLst>
              <a:gd name="adj" fmla="val 1826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1554480"/>
            <a:ext cx="3547872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0" y="155448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Términos clave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0" y="21945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003F7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21945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BIMSOIL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6517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003F7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26517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VBP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0" y="31089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003F7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0" y="31089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5661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003F7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0" y="35661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72400" y="40233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003F7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0" y="40233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772400" y="44805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003F7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0" y="44805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mV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772400" y="49377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003F7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0" y="49377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t70 · t90 · t100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772400" y="53949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003F7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0" y="53949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Antecedentes y planteamiento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554480"/>
            <a:ext cx="2712720" cy="4069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00600" y="1371600"/>
            <a:ext cx="665683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0" y="1627632"/>
            <a:ext cx="6199632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120640" y="1627632"/>
            <a:ext cx="6016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Vacío de conocimiento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074920" y="2240280"/>
            <a:ext cx="6126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estudio de los Bimsoils se ha concentrado en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y deformación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la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rapidez</a:t>
            </a:r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consolidación ha recibido poca atención.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compresibilidad decrece con la VBP, pero la respuesta temporal reportada es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dispersa y dependiente del esfuerzo</a:t>
            </a:r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considerar los bloques puede conducir a una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sobreestimación de los tiempos de consolidación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impacto directo en la planeación de obra.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Pregunta e hipótesis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5840" y="1508760"/>
            <a:ext cx="10177272" cy="1828800"/>
          </a:xfrm>
          <a:prstGeom prst="roundRect">
            <a:avLst>
              <a:gd name="adj" fmla="val 4000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80160" y="1737360"/>
            <a:ext cx="2468880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37160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Pregunta de investigación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2860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¿De qué manera la VBP influye en los tiempos de consolidación de un Bimsoil?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005840" y="3611880"/>
            <a:ext cx="10177272" cy="2240280"/>
          </a:xfrm>
          <a:prstGeom prst="roundRect">
            <a:avLst>
              <a:gd name="adj" fmla="val 3265"/>
            </a:avLst>
          </a:prstGeom>
          <a:solidFill>
            <a:srgbClr val="EAF3FA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280160" y="384048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005C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37160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Hipótesis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4389120"/>
            <a:ext cx="9326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Incrementar la VBP en un Bimsoil reduce los tiempos para alcanzar el final de la consolidación primaria, debido a que la presencia de bloques incrementa la rigidez del medio.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10725912" cy="1371600"/>
          </a:xfrm>
          <a:prstGeom prst="roundRect">
            <a:avLst>
              <a:gd name="adj" fmla="val 5333"/>
            </a:avLst>
          </a:prstGeom>
          <a:solidFill>
            <a:srgbClr val="003F7D"/>
          </a:solidFill>
          <a:ln w="25400">
            <a:solidFill>
              <a:srgbClr val="005CAA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6012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BD6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874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Determinar la influencia de la Proporción Volumétrica de Bloques (VBP) en el tiempo para alcanzar el final de la consolidación primaria en un material tipo Bimsoil.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2608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310128"/>
            <a:ext cx="10725912" cy="786384"/>
          </a:xfrm>
          <a:prstGeom prst="roundRect">
            <a:avLst>
              <a:gd name="adj" fmla="val 9302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3456432"/>
            <a:ext cx="512064" cy="512064"/>
          </a:xfrm>
          <a:prstGeom prst="oval">
            <a:avLst/>
          </a:prstGeom>
          <a:solidFill>
            <a:srgbClr val="FFFFFF"/>
          </a:solidFill>
          <a:ln w="19050">
            <a:solidFill>
              <a:srgbClr val="003F7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3310128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la relación entre la VBP y el Cv a partir de una formulación analítica.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31520" y="4206240"/>
            <a:ext cx="10725912" cy="786384"/>
          </a:xfrm>
          <a:prstGeom prst="roundRect">
            <a:avLst>
              <a:gd name="adj" fmla="val 9302"/>
            </a:avLst>
          </a:prstGeom>
          <a:solidFill>
            <a:srgbClr val="EAF6EC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4352544"/>
            <a:ext cx="512064" cy="512064"/>
          </a:xfrm>
          <a:prstGeom prst="oval">
            <a:avLst/>
          </a:prstGeom>
          <a:solidFill>
            <a:srgbClr val="FFFFFF"/>
          </a:solidFill>
          <a:ln w="19050">
            <a:solidFill>
              <a:srgbClr val="003F7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352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4206240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la validez del Cv(VBP) frente al Cv experimental.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731520" y="5102352"/>
            <a:ext cx="10725912" cy="786384"/>
          </a:xfrm>
          <a:prstGeom prst="roundRect">
            <a:avLst>
              <a:gd name="adj" fmla="val 9302"/>
            </a:avLst>
          </a:prstGeom>
          <a:solidFill>
            <a:srgbClr val="EAF3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" y="5248656"/>
            <a:ext cx="512064" cy="512064"/>
          </a:xfrm>
          <a:prstGeom prst="oval">
            <a:avLst/>
          </a:prstGeom>
          <a:solidFill>
            <a:srgbClr val="FFFFFF"/>
          </a:solidFill>
          <a:ln w="19050">
            <a:solidFill>
              <a:srgbClr val="003F7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5248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5102352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los tiempos de consolidación mediante un modelo numérico de elementos finitos (RS2).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Metodología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788920" y="1325880"/>
            <a:ext cx="661111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image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540" y="1463040"/>
            <a:ext cx="3543873" cy="4251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2011680"/>
            <a:ext cx="1874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trabajo integral: de la revisión y la formulación analítica a la validación experimental y la modelación numérica acoplada en RS2.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9555480" y="2194560"/>
            <a:ext cx="1920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con la comparación método-emparejada (t70 · t90 · t100) y las conclusiones.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 1 · Formulación analítica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Extensión de la teoría de consolidación 1D de Terzaghi a Bimsoils mediante las relaciones de fase.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1645920"/>
            <a:ext cx="34107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9" name="Image 1" descr="/tmp/claude-0/-home-user-PRUEBA/8b5ecebc-d7da-5982-8e77-bf4ccebf8beb/scratchpad/v3/assets/image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31" y="1783080"/>
            <a:ext cx="2095891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2651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Terzaghi 1D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97680" y="1645920"/>
            <a:ext cx="34107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12" name="Image 2" descr="/tmp/claude-0/-home-user-PRUEBA/8b5ecebc-d7da-5982-8e77-bf4ccebf8beb/scratchpad/v3/assets/image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38161"/>
            <a:ext cx="3136392" cy="46707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97680" y="2651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Relaciones de fase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863840" y="1645920"/>
            <a:ext cx="34107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15" name="Image 3" descr="/tmp/claude-0/-home-user-PRUEBA/8b5ecebc-d7da-5982-8e77-bf4ccebf8beb/scratchpad/v3/assets/image2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895763"/>
            <a:ext cx="3136392" cy="55187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863840" y="265176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Volumen de sólidos (VBP, eF)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731520" y="3246120"/>
            <a:ext cx="10725912" cy="1600200"/>
          </a:xfrm>
          <a:prstGeom prst="roundRect">
            <a:avLst>
              <a:gd name="adj" fmla="val 4571"/>
            </a:avLst>
          </a:prstGeom>
          <a:solidFill>
            <a:srgbClr val="EAF3FA"/>
          </a:solidFill>
          <a:ln w="25400">
            <a:solidFill>
              <a:srgbClr val="005CAA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960120" y="3429000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005CAA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1051560" y="3429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Coeficiente de consolidación del Bimsoil</a:t>
            </a:r>
            <a:endParaRPr lang="en-US" sz="1250" dirty="0"/>
          </a:p>
        </p:txBody>
      </p:sp>
      <p:pic>
        <p:nvPicPr>
          <p:cNvPr id="20" name="Image 4" descr="/tmp/claude-0/-home-user-PRUEBA/8b5ecebc-d7da-5982-8e77-bf4ccebf8beb/scratchpad/v3/assets/image2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430356"/>
            <a:ext cx="6949440" cy="123172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31520" y="5029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Cv,BIM extiende la teoría de Terzaghi incorporando la VBP vía las relaciones de fase; es el coeficiente que alimenta el modelo equivalente analítico.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1554480" y="57607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 a partir de la formulación de Clavijo R. (2025–2026).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 2 · Validación del Cv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equivalente analítico frente al Cv experimental (método emparejado T50 / T70 / T90).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164592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178308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T50</a:t>
            </a:r>
            <a:endParaRPr lang="en-US" sz="1200" dirty="0"/>
          </a:p>
        </p:txBody>
      </p:sp>
      <p:pic>
        <p:nvPicPr>
          <p:cNvPr id="11" name="Image 1" descr="/tmp/claude-0/-home-user-PRUEBA/8b5ecebc-d7da-5982-8e77-bf4ccebf8beb/scratchpad/v3/assets/image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286000"/>
            <a:ext cx="2331720" cy="2331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7600" y="164592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977640" y="178308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06908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T70</a:t>
            </a:r>
            <a:endParaRPr lang="en-US" sz="1200" dirty="0"/>
          </a:p>
        </p:txBody>
      </p:sp>
      <p:pic>
        <p:nvPicPr>
          <p:cNvPr id="15" name="Image 2" descr="/tmp/claude-0/-home-user-PRUEBA/8b5ecebc-d7da-5982-8e77-bf4ccebf8beb/scratchpad/v3/assets/image2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340" y="2286000"/>
            <a:ext cx="2331720" cy="23317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583680" y="164592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03720" y="178308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99516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T90</a:t>
            </a:r>
            <a:endParaRPr lang="en-US" sz="1200" dirty="0"/>
          </a:p>
        </p:txBody>
      </p:sp>
      <p:pic>
        <p:nvPicPr>
          <p:cNvPr id="19" name="Image 3" descr="/tmp/claude-0/-home-user-PRUEBA/8b5ecebc-d7da-5982-8e77-bf4ccebf8beb/scratchpad/v3/assets/image2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2286000"/>
            <a:ext cx="2331720" cy="23317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555480" y="1645920"/>
            <a:ext cx="1901952" cy="3063240"/>
          </a:xfrm>
          <a:prstGeom prst="roundRect">
            <a:avLst>
              <a:gd name="adj" fmla="val 3846"/>
            </a:avLst>
          </a:prstGeom>
          <a:solidFill>
            <a:srgbClr val="EAF6EC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9555480" y="192024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MAPE (Taylor)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9555480" y="23317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16.1 %</a:t>
            </a:r>
            <a:endParaRPr lang="en-US" sz="3400" dirty="0"/>
          </a:p>
        </p:txBody>
      </p:sp>
      <p:sp>
        <p:nvSpPr>
          <p:cNvPr id="23" name="Text 17"/>
          <p:cNvSpPr txBox="1"/>
          <p:nvPr/>
        </p:nvSpPr>
        <p:spPr>
          <a:xfrm>
            <a:off x="9555480" y="3200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Cv,BIM vs. experimental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9555480" y="370332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 el orden de magnitud del Cv experimental.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937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formulación reproduce el caso base y los VBP bajos; al aumentar la VBP crecen la subestimación y la dispersión del Cv analítico equivalente.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554480" y="5760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Datos experimentales suministrados por el Ing. Andrés H. Clavijo 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 3 · Del ensayo al modelo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3200400" cy="4434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1554480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15544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Muestras experimentales</a:t>
            </a:r>
            <a:endParaRPr lang="en-US" sz="1200" dirty="0"/>
          </a:p>
        </p:txBody>
      </p:sp>
      <p:pic>
        <p:nvPicPr>
          <p:cNvPr id="10" name="Image 1" descr="/tmp/claude-0/-home-user-PRUEBA/8b5ecebc-d7da-5982-8e77-bf4ccebf8beb/scratchpad/v3/assets/image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349" y="2057400"/>
            <a:ext cx="2134742" cy="1600200"/>
          </a:xfrm>
          <a:prstGeom prst="rect">
            <a:avLst/>
          </a:prstGeom>
        </p:spPr>
      </p:pic>
      <p:pic>
        <p:nvPicPr>
          <p:cNvPr id="11" name="Image 2" descr="/tmp/claude-0/-home-user-PRUEBA/8b5ecebc-d7da-5982-8e77-bf4ccebf8beb/scratchpad/v3/assets/image3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26" y="3794760"/>
            <a:ext cx="2117188" cy="1600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069080" y="3291840"/>
            <a:ext cx="457200" cy="457200"/>
          </a:xfrm>
          <a:prstGeom prst="rightArrow">
            <a:avLst/>
          </a:prstGeom>
          <a:solidFill>
            <a:srgbClr val="005CAA"/>
          </a:solidFill>
          <a:ln/>
        </p:spPr>
      </p:sp>
      <p:sp>
        <p:nvSpPr>
          <p:cNvPr id="13" name="Shape 8"/>
          <p:cNvSpPr/>
          <p:nvPr/>
        </p:nvSpPr>
        <p:spPr>
          <a:xfrm>
            <a:off x="4663440" y="1371600"/>
            <a:ext cx="67939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846320" y="1554480"/>
            <a:ext cx="6428232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937760" y="1554480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Representación numérica en RS2</a:t>
            </a:r>
            <a:endParaRPr lang="en-US" sz="1200" dirty="0"/>
          </a:p>
        </p:txBody>
      </p:sp>
      <p:pic>
        <p:nvPicPr>
          <p:cNvPr id="16" name="Image 3" descr="/tmp/claude-0/-home-user-PRUEBA/8b5ecebc-d7da-5982-8e77-bf4ccebf8beb/scratchpad/v3/assets/fig_fem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772" y="2103120"/>
            <a:ext cx="2773895" cy="1554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92040" y="36393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Modelo explícito con bloques</a:t>
            </a:r>
            <a:endParaRPr lang="en-US" sz="1100" dirty="0"/>
          </a:p>
        </p:txBody>
      </p:sp>
      <p:pic>
        <p:nvPicPr>
          <p:cNvPr id="18" name="Image 4" descr="/tmp/claude-0/-home-user-PRUEBA/8b5ecebc-d7da-5982-8e77-bf4ccebf8beb/scratchpad/v3/assets/fig_fem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191" y="3977640"/>
            <a:ext cx="2479058" cy="1417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892040" y="53949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Modelo equivalente homogéneo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1554480" y="5897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Idealización 2D (plane strain) que reproduce las condiciones edométricas y el efecto de la VBP.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Configuración del modelo RS2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3410712" cy="411480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1600200"/>
            <a:ext cx="3044952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160020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Modelo y malla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19456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Matriz: Soft Soil (acoplado Biot).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equivalente 100 × 50 mm, plane strain.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Triángulos cuadráticos de 6 nodos.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≈1018 elementos · ≈2131 nodos.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417320"/>
            <a:ext cx="3410712" cy="411480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1600200"/>
            <a:ext cx="3044952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0" y="160020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Parámetros Soft Soil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19456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λ* = Cc / [2.3(1+e)]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κ* ≈ 2Cr / [2.3(1+e)]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λ* = 0.0245   ·   κ* = 0.0099 (base VBP0).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 mecánicos base congelados.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63840" y="1417320"/>
            <a:ext cx="3410712" cy="411480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46720" y="1600200"/>
            <a:ext cx="3044952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138160" y="160020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Fronteras y clave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219456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PWP = 0 arriba y abajo (doble drenaje).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Laterales no drenantes; Restrained X.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Restrained Y; superficie libre.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k(σ′v); bloques casi impermeables.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configuración separa la calibración mecánica (λ*, κ*) de la calibración temporal mediante k(σ′v), con parámetros trazables al ensayo edométrico.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Compresibilidad (e–log σ′)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25880"/>
            <a:ext cx="69037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fig_elogsig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11" y="1463040"/>
            <a:ext cx="5223538" cy="4251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18120" y="1325880"/>
            <a:ext cx="3639312" cy="452628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001000" y="1508760"/>
            <a:ext cx="3273552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092440" y="150876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Índice de compresión Cc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2103120"/>
          <a:ext cx="3273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68096"/>
                <a:gridCol w="768096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VBP0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VBP30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RS2 explícito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RS2 equivalente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8001000" y="411480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compresibilidad decrece monótonamente con la VBP en el dato experimental y en ambas familias numéricas.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001000" y="4983480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esqueleto más rígido = menor cambio de vacíos = consolidación más rápida (mecanismo de 1er orden).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Resultados · t90 (Taylor)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1072591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fig_t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62727"/>
            <a:ext cx="10451592" cy="280102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−26.9 %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219456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experimental a VBP30 (V2)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3484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+2.1 %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del modelo explícito (casi insesgado)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6384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0100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+22.7 %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932688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del equivalente (sobreestima)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587044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con convención V2 (media de reducciones por etapa). MAPE t90: explícito 18.2 % · equivalente 23.0 %.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Resultados · t100 (Casagrande)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1072591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fig_t1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62727"/>
            <a:ext cx="10451592" cy="280102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−30.2 %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219456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experimental a VBP30 (V2)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3484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−1.9 %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del modelo explícito (casi insesgado)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6384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0100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+20.4 %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932688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del equivalente (sobreestima)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587044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t100: explícito 17.3 % · equivalente 26.0 %. t90 y t100 son los descriptores robustos del estudio.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Desempeño numérico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Exactitud por modelo y descriptor (método emparejado, todos los VBP y esfuerzos).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7315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640080"/>
                <a:gridCol w="128016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Sesgo medio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Explícito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t90 (Taylor)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+2.1 %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Explícito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t100 (Casagrande)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−1.9 %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Equivalente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t90 (Taylor)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+22.7 %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Equivalente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t100 (Casagrande)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26.0 %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+20.4 %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E6C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Explícito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E6C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t70 (inflexión) ·anexo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E6C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E6C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52.5 %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E6C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−52.5 %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E6C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Equivalente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E6C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t70 (inflexión) ·anexo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E6C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E6C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41.1 %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E6C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−40.9 %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275320" y="1691640"/>
            <a:ext cx="3182112" cy="3749040"/>
          </a:xfrm>
          <a:prstGeom prst="roundRect">
            <a:avLst>
              <a:gd name="adj" fmla="val 2299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458200" y="1874520"/>
            <a:ext cx="2816352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549640" y="187452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Lectura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458200" y="2377440"/>
            <a:ext cx="28163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t90 y t100: el explícito queda casi insesgado; el equivalente sobreestima de forma sistemática (+20 a +23 %).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t70: deficiente en ambos (subestima 41–52 %) → se degrada a anexo.</a:t>
            </a:r>
            <a:endParaRPr lang="en-US" sz="1200" dirty="0"/>
          </a:p>
          <a:p>
            <a:pPr algn="l"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la etapa de 20.47 kPa, el MAPE de t90 baja a 11.4 % (expl.) y 13.7 % (equiv.).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negativo = subestima el tiempo; positivo = lo sobreestima. Fuente: base maestra (126 registros).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de magnitud del efecto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¿Reproduce el modelo el tamaño de la reducción, y no solo su dirección?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725912" cy="914400"/>
        </p:xfrm>
        <a:graphic>
          <a:graphicData uri="http://schemas.openxmlformats.org/drawingml/2006/table">
            <a:tbl>
              <a:tblPr/>
              <a:tblGrid>
                <a:gridCol w="3867912"/>
                <a:gridCol w="2286000"/>
                <a:gridCol w="2286000"/>
                <a:gridCol w="2286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Descriptor y rango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Explícito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Equivalente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t90 — VBP0 → 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−26.9 %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−11.9 %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t100 — VBP0 → 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−30.2 %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−7.6 %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t90 — VBP10 → 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−10.5 %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−12.5 %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−3.9 %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t100 — VBP10 → 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−7.3 %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−7.0 %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−5.0 %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31520" y="452628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91440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Rango completo (VBP0→30)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explícito reproduce la dirección pero solo ~40 % de la magnitud. La brecha se concentra en el salto VBP0→10.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45352" y="452628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EAF6EC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28232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Rango común (VBP10→30)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explícito reproduce bien la magnitud (−12.5 % vs −10.5 %); el equivalente la amortigua de forma consistente.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Sensibilidad de λ* (VBP 0 %)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70408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fig_lambda_s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64996"/>
            <a:ext cx="6766560" cy="409376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955280" y="137160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138160" y="1572768"/>
            <a:ext cx="3136392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229600" y="157276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¿Por qué λ* = 0.0245?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183880" y="2103120"/>
            <a:ext cx="30449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eligió por un estudio de sensibilidad contra la historia completa de asentamiento, no solo por la pendiente virgen.</a:t>
            </a:r>
            <a:endParaRPr lang="en-US" sz="1250" dirty="0"/>
          </a:p>
          <a:p>
            <a:pPr algn="l"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base de compresión virgen sería ≈ 0.035; el valor congelado (0.0245) reproduce mejor la respuesta carga–descarga.</a:t>
            </a:r>
            <a:endParaRPr lang="en-US" sz="1250" dirty="0"/>
          </a:p>
          <a:p>
            <a:pPr algn="l"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etapa de 20.47 kPa (primer escalón) es la más problemática; su exclusión mejora el ajuste (coherente con INVIAS).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52578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i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Sustenta la fila VBP0 de la Tabla 2 (base calibrada).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Síntesis de resultados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107259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1554480"/>
            <a:ext cx="4937760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Reducción experimental a VBP30 vs. VBP0 (robusta)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Descriptores confiables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210312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−26.9 %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34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t90 · Taylor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35040" y="210312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−30.2 %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34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t100 · Casagrande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31520" y="3429000"/>
            <a:ext cx="6858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4400" y="3611880"/>
            <a:ext cx="6492240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36118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Ajuste numérico — MAPE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114800"/>
          <a:ext cx="6492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3F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3F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Explícito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Equivalente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26.0 %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Explícito (sin 20.47 kPa)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Equivalente (sin 20.47 kPa)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4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7863840" y="3429000"/>
            <a:ext cx="3593592" cy="2331720"/>
          </a:xfrm>
          <a:prstGeom prst="roundRect">
            <a:avLst>
              <a:gd name="adj" fmla="val 3137"/>
            </a:avLst>
          </a:prstGeom>
          <a:solidFill>
            <a:srgbClr val="EAF6EC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7863840" y="365760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Formulación analítica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863840" y="4023360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16.1 %</a:t>
            </a:r>
            <a:endParaRPr lang="en-US" sz="4000" dirty="0"/>
          </a:p>
        </p:txBody>
      </p:sp>
      <p:sp>
        <p:nvSpPr>
          <p:cNvPr id="24" name="Text 20"/>
          <p:cNvSpPr txBox="1"/>
          <p:nvPr/>
        </p:nvSpPr>
        <p:spPr>
          <a:xfrm>
            <a:off x="7863840" y="489204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Cv,BIM vs. experimental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7863840" y="521208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 el orden de magnitud del Cv experimental (base Taylor).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1554480" y="58521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Reducciones con convención V2 (media de reducciones por etapa).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Mecanismo: rigidez y algo más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1627632"/>
            <a:ext cx="4892040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16276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· Rigidez (primer orden)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1945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compresibilidad decrece monótonamente con la VBP (Cc: 0.051 → 0.022).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esqueleto más rígido moviliza menos cambio de vacíos para el mismo Δσ′.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expulsa menos agua y el proceso culmina antes (nítido en t90 y t100).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99632" y="14173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EAF3FA"/>
          </a:solidFill>
          <a:ln w="22225">
            <a:solidFill>
              <a:srgbClr val="005CAA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82512" y="1627632"/>
            <a:ext cx="4892040" cy="384048"/>
          </a:xfrm>
          <a:prstGeom prst="roundRect">
            <a:avLst>
              <a:gd name="adj" fmla="val 23810"/>
            </a:avLst>
          </a:prstGeom>
          <a:solidFill>
            <a:srgbClr val="005C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3952" y="16276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· La rigidez no basta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28232" y="21945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equivalente (solo compresibilidad + Cv,BIM) sobreestima +20 a +23 % y amortigua la tendencia.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explícito (con mesoestructura de bloques) queda casi insesgado en t90/t100.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Hay una componente geométrica/hidráulica: tortuosidad y caminos de flujo por los bloques casi impermeables.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Contribución central: evidenciar que la deformabilidad reducida, por sí sola, no explica toda la aceleración observada.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10725912" cy="850392"/>
          </a:xfrm>
          <a:prstGeom prst="roundRect">
            <a:avLst>
              <a:gd name="adj" fmla="val 8602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4447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Dirección confirmada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7556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VBP → menor tiempo: reducciones robustas de 26.9 % (t90) y 30.2 % (t100) a VBP30, en los seis esfuerzos. La hipótesis se confirma.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286000"/>
            <a:ext cx="10725912" cy="850392"/>
          </a:xfrm>
          <a:prstGeom prst="roundRect">
            <a:avLst>
              <a:gd name="adj" fmla="val 8602"/>
            </a:avLst>
          </a:prstGeom>
          <a:solidFill>
            <a:srgbClr val="EAF6EC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3591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rigidez es el mecanismo dominante, pero no suficiente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700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compresibilidad decrece con la VBP y acelera la consolidación; sin embargo, no explica toda la respuesta temporal.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200400"/>
            <a:ext cx="10725912" cy="850392"/>
          </a:xfrm>
          <a:prstGeom prst="roundRect">
            <a:avLst>
              <a:gd name="adj" fmla="val 8602"/>
            </a:avLst>
          </a:prstGeom>
          <a:solidFill>
            <a:srgbClr val="EAF3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32735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Explícito vs. equivalente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5844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equivalente sobreestima (+20 a +23 %) y amortigua la tendencia; el explícito queda casi insesgado (MAPE 17–18 %) → componente geométrica/hidráulica adicional.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4114800"/>
            <a:ext cx="10725912" cy="850392"/>
          </a:xfrm>
          <a:prstGeom prst="roundRect">
            <a:avLst>
              <a:gd name="adj" fmla="val 8602"/>
            </a:avLst>
          </a:prstGeom>
          <a:solidFill>
            <a:srgbClr val="EAF3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187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Magnitud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988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explícito reproduce la dirección en todo el rango y la magnitud en VBP10→30; captura ~40 % en VBP0→30 (brecha en el salto VBP0→10).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5029200"/>
            <a:ext cx="10725912" cy="850392"/>
          </a:xfrm>
          <a:prstGeom prst="roundRect">
            <a:avLst>
              <a:gd name="adj" fmla="val 8602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51023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 método condiciona la lectura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4132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t90 (Taylor) y t100 (Casagrande) son robustos y soportan las conclusiones; t70 (inflexión) es poco fiable y se trata como indicativo (anexo).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Estado de avance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del trabajo de cara a la pre-sustentación.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EAF6EC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1901952"/>
            <a:ext cx="4892040" cy="384048"/>
          </a:xfrm>
          <a:prstGeom prst="roundRect">
            <a:avLst>
              <a:gd name="adj" fmla="val 23810"/>
            </a:avLst>
          </a:prstGeom>
          <a:solidFill>
            <a:srgbClr val="003F7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19019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Terminado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246888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Formulación Cv,BIM implementada y evaluada frente a la base experimental.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RS2 explícito y equivalente corridos para VBP 0/10/20/30 y 6 esfuerzos.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consolidada (BASE_MAESTRA_BIMSOIL) y verificada.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redactado para Soils and Rocks, con figuras a 500 dpi.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9632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EAF3FA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82512" y="1901952"/>
            <a:ext cx="4892040" cy="384048"/>
          </a:xfrm>
          <a:prstGeom prst="roundRect">
            <a:avLst>
              <a:gd name="adj" fmla="val 23810"/>
            </a:avLst>
          </a:prstGeom>
          <a:solidFill>
            <a:srgbClr val="005C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73952" y="19019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 curso / pendiente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428232" y="246888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los directores.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al límite de palabras de la revista.</a:t>
            </a:r>
            <a:endParaRPr lang="en-US" sz="1300" dirty="0"/>
          </a:p>
          <a:p>
            <a:pPr algn="l"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finales de figuras.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Trabajos futuros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5840" y="1554480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34440" y="1755648"/>
            <a:ext cx="512064" cy="512064"/>
          </a:xfrm>
          <a:prstGeom prst="oval">
            <a:avLst/>
          </a:prstGeom>
          <a:solidFill>
            <a:srgbClr val="E8F2FA"/>
          </a:solidFill>
          <a:ln w="19050">
            <a:solidFill>
              <a:srgbClr val="003F7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34440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155448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Extender la formulación Cv,BIM para incluir la dependencia explícita de la conductividad hidráulica (tortuosidad) con la VBP.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05840" y="2587752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234440" y="2788920"/>
            <a:ext cx="512064" cy="512064"/>
          </a:xfrm>
          <a:prstGeom prst="oval">
            <a:avLst/>
          </a:prstGeom>
          <a:solidFill>
            <a:srgbClr val="E8F2FA"/>
          </a:solidFill>
          <a:ln w="19050">
            <a:solidFill>
              <a:srgbClr val="003F7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34440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965960" y="2587752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FC &lt; 100 % y VBP &gt; 30 %, donde aparece transferencia de carga entre bloques.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05840" y="3621024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234440" y="3822192"/>
            <a:ext cx="512064" cy="512064"/>
          </a:xfrm>
          <a:prstGeom prst="oval">
            <a:avLst/>
          </a:prstGeom>
          <a:solidFill>
            <a:srgbClr val="E8F2FA"/>
          </a:solidFill>
          <a:ln w="19050">
            <a:solidFill>
              <a:srgbClr val="003F7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34440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965960" y="3621024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de sensibilidad del descriptor t70 que reduzca la dependencia del operador.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4654296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234440" y="4855464"/>
            <a:ext cx="512064" cy="512064"/>
          </a:xfrm>
          <a:prstGeom prst="oval">
            <a:avLst/>
          </a:prstGeom>
          <a:solidFill>
            <a:srgbClr val="E8F2FA"/>
          </a:solidFill>
          <a:ln w="19050">
            <a:solidFill>
              <a:srgbClr val="003F7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34440" y="48554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965960" y="4654296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 la frecuencia de adquisición para resolver mejor los primeros escalones de carga.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28600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Gracias por su atención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4114800" y="3639312"/>
            <a:ext cx="3959352" cy="0"/>
          </a:xfrm>
          <a:prstGeom prst="line">
            <a:avLst/>
          </a:prstGeom>
          <a:noFill/>
          <a:ln w="25400">
            <a:solidFill>
              <a:srgbClr val="005CA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1920" y="3931920"/>
            <a:ext cx="4325112" cy="731520"/>
          </a:xfrm>
          <a:prstGeom prst="roundRect">
            <a:avLst>
              <a:gd name="adj" fmla="val 12500"/>
            </a:avLst>
          </a:prstGeom>
          <a:solidFill>
            <a:srgbClr val="E8F2FA"/>
          </a:solidFill>
          <a:ln w="25400">
            <a:solidFill>
              <a:srgbClr val="005CA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31920" y="3931920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¿Preguntas o comentarios?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011680" y="2331720"/>
            <a:ext cx="8165592" cy="2103120"/>
          </a:xfrm>
          <a:prstGeom prst="roundRect">
            <a:avLst>
              <a:gd name="adj" fmla="val 4348"/>
            </a:avLst>
          </a:prstGeom>
          <a:solidFill>
            <a:srgbClr val="E8F2FA"/>
          </a:solidFill>
          <a:ln w="19050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2011680" y="256032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Anexos  ·  Respaldo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3474720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t70 (indicativo) · trayectorias e–log σ′ (ciclos) · construcciones gráficas de los métodos · tendencias con la VBP.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Anexo · t70 (descriptor indicativo)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1072591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fig_t7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62727"/>
            <a:ext cx="10451592" cy="280102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−28.4 %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219456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media a VBP30 (dispersa)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3484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−52.5 %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explícito (subestima)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63840" y="4892040"/>
            <a:ext cx="3410712" cy="9144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 w="15875">
            <a:solidFill>
              <a:srgbClr val="B4D2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0100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−40.9 %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9326880" y="499262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equivalente (subestima)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31520" y="5852160"/>
            <a:ext cx="10725912" cy="292608"/>
          </a:xfrm>
          <a:prstGeom prst="roundRect">
            <a:avLst>
              <a:gd name="adj" fmla="val 18750"/>
            </a:avLst>
          </a:prstGeom>
          <a:solidFill>
            <a:srgbClr val="EAF3F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68680" y="58521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t70 poco fiable: lectura dependiente del operador (40–67 %), tendencia no monótona por etapa y subestimado por ambos modelos. Las conclusiones se apoyan en t90 y t100.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Anexo · e–log σ′ (ciclos)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image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92981"/>
            <a:ext cx="4983480" cy="36720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5349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VBP 0 %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99632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11" name="Image 2" descr="/tmp/claude-0/-home-user-PRUEBA/8b5ecebc-d7da-5982-8e77-bf4ccebf8beb/scratchpad/v3/assets/image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592981"/>
            <a:ext cx="4983480" cy="367203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99632" y="5349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VBP 10 %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554480" y="58064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Experimental: datos del Ing. Andrés H. Clavijo R.; RS2: modelos de esta investigación.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Anexo · e–log σ′ (ciclos)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image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92981"/>
            <a:ext cx="4983480" cy="36720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5349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VBP 20 %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99632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11" name="Image 2" descr="/tmp/claude-0/-home-user-PRUEBA/8b5ecebc-d7da-5982-8e77-bf4ccebf8beb/scratchpad/v3/assets/image3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592981"/>
            <a:ext cx="4983480" cy="367203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99632" y="5349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VBP 30 %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554480" y="58064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Experimental: datos del Ing. Andrés H. Clavijo R.; RS2: modelos de esta investigación.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Anexo · Construcciones gráficas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image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3514"/>
            <a:ext cx="4846320" cy="357097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5349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t90 — método de Taylor (√t)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035040" y="1417320"/>
            <a:ext cx="542239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11" name="Image 2" descr="/tmp/claude-0/-home-user-PRUEBA/8b5ecebc-d7da-5982-8e77-bf4ccebf8beb/scratchpad/v3/assets/image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768" y="1481328"/>
            <a:ext cx="3476936" cy="195681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35040" y="3630168"/>
            <a:ext cx="542239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13" name="Image 3" descr="/tmp/claude-0/-home-user-PRUEBA/8b5ecebc-d7da-5982-8e77-bf4ccebf8beb/scratchpad/v3/assets/image4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768" y="3694176"/>
            <a:ext cx="3476936" cy="19568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035040" y="54864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t70 — inflexión (arriba) · t100 — Casagrande (abajo)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UEBA/8b5ecebc-d7da-5982-8e77-bf4ccebf8beb/scratchpad/v3/assets/imag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97480" y="475488"/>
            <a:ext cx="9144000" cy="0"/>
          </a:xfrm>
          <a:prstGeom prst="line">
            <a:avLst/>
          </a:prstGeom>
          <a:noFill/>
          <a:ln w="22225">
            <a:solidFill>
              <a:srgbClr val="005CA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19895" y="219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78463" y="64922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3152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Anexo · Tendencias con la VBP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8" name="Image 1" descr="/tmp/claude-0/-home-user-PRUEBA/8b5ecebc-d7da-5982-8e77-bf4ccebf8beb/scratchpad/v3/assets/image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59575"/>
            <a:ext cx="3337560" cy="18382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5138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t70 (inflexión)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8912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11" name="Image 2" descr="/tmp/claude-0/-home-user-PRUEBA/8b5ecebc-d7da-5982-8e77-bf4ccebf8beb/scratchpad/v3/assets/image4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459575"/>
            <a:ext cx="3337560" cy="18382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89120" y="5138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t90 (Taylor)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046720" y="15544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B4D2E8"/>
            </a:solidFill>
            <a:prstDash val="solid"/>
          </a:ln>
          <a:effectLst>
            <a:outerShdw sx="100000" sy="100000" kx="0" ky="0" algn="bl" rotWithShape="0" blurRad="63500" dist="31750" dir="5400000">
              <a:srgbClr val="AAB6C0">
                <a:alpha val="18000"/>
              </a:srgbClr>
            </a:outerShdw>
          </a:effectLst>
        </p:spPr>
      </p:sp>
      <p:pic>
        <p:nvPicPr>
          <p:cNvPr id="14" name="Image 3" descr="/tmp/claude-0/-home-user-PRUEBA/8b5ecebc-d7da-5982-8e77-bf4ccebf8beb/scratchpad/v3/assets/image4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459575"/>
            <a:ext cx="3337560" cy="18382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46720" y="5138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t100 (Casagrande)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E6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 de cada tiempo con la VBP, por esfuerzo efectivo: experimental vs. explícito vs. equivalente.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2026-10-07T13:55:54Z</dcterms:created>
  <dcterms:modified xsi:type="dcterms:W3CDTF">2026-10-07T13:55:54Z</dcterms:modified>
</cp:coreProperties>
</file>