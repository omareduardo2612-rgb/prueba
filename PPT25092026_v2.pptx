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67" r:id="rId2"/>
    <p:sldId id="282" r:id="rId28"/>
    <p:sldId id="268" r:id="rId3"/>
    <p:sldId id="258" r:id="rId4"/>
    <p:sldId id="280" r:id="rId5"/>
    <p:sldId id="281" r:id="rId6"/>
    <p:sldId id="261" r:id="rId7"/>
    <p:sldId id="266" r:id="rId8"/>
    <p:sldId id="264" r:id="rId9"/>
    <p:sldId id="256" r:id="rId10"/>
    <p:sldId id="257" r:id="rId11"/>
    <p:sldId id="260" r:id="rId17"/>
    <p:sldId id="276" r:id="rId19"/>
    <p:sldId id="279" r:id="rId21"/>
    <p:sldId id="283" r:id="rId29"/>
    <p:sldId id="284" r:id="rId30"/>
    <p:sldId id="285" r:id="rId31"/>
    <p:sldId id="286" r:id="rId32"/>
    <p:sldId id="287" r:id="rId33"/>
    <p:sldId id="262" r:id="rId12"/>
    <p:sldId id="263" r:id="rId13"/>
    <p:sldId id="271" r:id="rId14"/>
    <p:sldId id="259" r:id="rId15"/>
    <p:sldId id="272" r:id="rId16"/>
    <p:sldId id="275" r:id="rId18"/>
    <p:sldId id="277" r:id="rId20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6" y="11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  <Relationship Id="rId32" Type="http://schemas.openxmlformats.org/officeDocument/2006/relationships/slide" Target="slides/slide26.xml"/>
  <Relationship Id="rId33" Type="http://schemas.openxmlformats.org/officeDocument/2006/relationships/slide" Target="slides/slide27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7020F3-86A5-4408-B2CE-F3733FE3DD9E}" type="datetimeFigureOut">
              <a:rPr lang="es-CO" smtClean="0"/>
              <a:t>2/10/2026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E14FF8-BE24-4355-8BE7-C15CA6D61A76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3477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80658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ULL_IM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920" y="6547104"/>
            <a:ext cx="5600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7987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JAVERIAN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javeriana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658368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0" y="320040"/>
            <a:ext cx="10104120" cy="0"/>
          </a:xfrm>
          <a:prstGeom prst="line">
            <a:avLst/>
          </a:prstGeom>
          <a:noFill/>
          <a:ln w="13970">
            <a:solidFill>
              <a:srgbClr val="005CA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10287000" y="914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5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9829800" y="38404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6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· CONSOLIDACIÓN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2920" y="6611112"/>
            <a:ext cx="7498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 a partir de resultados experimentales y modelación numérica RS2.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4048" y="6556248"/>
            <a:ext cx="5600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A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813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JAVERIAN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javeriana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6304"/>
            <a:ext cx="658368" cy="43891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645920" y="320040"/>
            <a:ext cx="10104120" cy="0"/>
          </a:xfrm>
          <a:prstGeom prst="line">
            <a:avLst/>
          </a:prstGeom>
          <a:noFill/>
          <a:ln w="13970">
            <a:solidFill>
              <a:srgbClr val="005CA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1"/>
          <p:cNvSpPr/>
          <p:nvPr/>
        </p:nvSpPr>
        <p:spPr>
          <a:xfrm>
            <a:off x="10287000" y="91440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005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TRABAJO DE GRADO II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9829800" y="384048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7687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502920" y="6611112"/>
            <a:ext cx="7498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i="1" dirty="0">
                <a:solidFill>
                  <a:srgbClr val="5D66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4048" y="6556248"/>
            <a:ext cx="5600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A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813770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6800" y="6356350"/>
            <a:ext cx="560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6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3.sv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_fem_b.png"/><Relationship Id="rId5" Type="http://schemas.openxmlformats.org/officeDocument/2006/relationships/image" Target="../media/image_fem_a.png"/><Relationship Id="rId4" Type="http://schemas.openxmlformats.org/officeDocument/2006/relationships/image" Target="../media/image31.png"/></Relationships>
</file>

<file path=ppt/slides/_rels/slide10.xml.rels><?xml version="1.0" encoding="UTF-8" standalone="yes"?>
<Relationships xmlns="http://schemas.openxmlformats.org/package/2006/relationships"><Relationship Id="rId3" Type="http://schemas.openxmlformats.org/officeDocument/2006/relationships/image" Target="../media/image_fem_a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_fem_b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3" Type="http://schemas.openxmlformats.org/officeDocument/2006/relationships/image" Target="../media/image_lambda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8444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>
            <a:off x="-440050" y="-369796"/>
            <a:ext cx="13072101" cy="900271"/>
            <a:chOff x="0" y="0"/>
            <a:chExt cx="5164287" cy="3556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64287" cy="355663"/>
            </a:xfrm>
            <a:custGeom>
              <a:avLst/>
              <a:gdLst/>
              <a:ahLst/>
              <a:cxnLst/>
              <a:rect l="l" t="t" r="r" b="b"/>
              <a:pathLst>
                <a:path w="5164287" h="355663">
                  <a:moveTo>
                    <a:pt x="0" y="0"/>
                  </a:moveTo>
                  <a:lnTo>
                    <a:pt x="5164287" y="0"/>
                  </a:lnTo>
                  <a:lnTo>
                    <a:pt x="5164287" y="355663"/>
                  </a:lnTo>
                  <a:lnTo>
                    <a:pt x="0" y="355663"/>
                  </a:lnTo>
                  <a:close/>
                </a:path>
              </a:pathLst>
            </a:custGeom>
            <a:gradFill rotWithShape="1">
              <a:gsLst>
                <a:gs pos="0">
                  <a:srgbClr val="031840">
                    <a:alpha val="28500"/>
                  </a:srgbClr>
                </a:gs>
                <a:gs pos="100000">
                  <a:srgbClr val="01173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5164287" cy="42233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7"/>
                </a:lnSpc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>
            <a:off x="391529" y="119284"/>
            <a:ext cx="294271" cy="310650"/>
          </a:xfrm>
          <a:custGeom>
            <a:avLst/>
            <a:gdLst/>
            <a:ahLst/>
            <a:cxnLst/>
            <a:rect l="l" t="t" r="r" b="b"/>
            <a:pathLst>
              <a:path w="441406" h="465975">
                <a:moveTo>
                  <a:pt x="0" y="0"/>
                </a:moveTo>
                <a:lnTo>
                  <a:pt x="441406" y="0"/>
                </a:lnTo>
                <a:lnTo>
                  <a:pt x="441406" y="465975"/>
                </a:lnTo>
                <a:lnTo>
                  <a:pt x="0" y="465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>
            <a:off x="-214615" y="6172201"/>
            <a:ext cx="900415" cy="900415"/>
          </a:xfrm>
          <a:custGeom>
            <a:avLst/>
            <a:gdLst/>
            <a:ahLst/>
            <a:cxnLst/>
            <a:rect l="l" t="t" r="r" b="b"/>
            <a:pathLst>
              <a:path w="1350623" h="1350623">
                <a:moveTo>
                  <a:pt x="0" y="0"/>
                </a:moveTo>
                <a:lnTo>
                  <a:pt x="1350623" y="0"/>
                </a:lnTo>
                <a:lnTo>
                  <a:pt x="1350623" y="1350623"/>
                </a:lnTo>
                <a:lnTo>
                  <a:pt x="0" y="1350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Freeform 8"/>
          <p:cNvSpPr/>
          <p:nvPr/>
        </p:nvSpPr>
        <p:spPr>
          <a:xfrm>
            <a:off x="-214615" y="5271785"/>
            <a:ext cx="900415" cy="900415"/>
          </a:xfrm>
          <a:custGeom>
            <a:avLst/>
            <a:gdLst/>
            <a:ahLst/>
            <a:cxnLst/>
            <a:rect l="l" t="t" r="r" b="b"/>
            <a:pathLst>
              <a:path w="1350623" h="1350623">
                <a:moveTo>
                  <a:pt x="0" y="0"/>
                </a:moveTo>
                <a:lnTo>
                  <a:pt x="1350623" y="0"/>
                </a:lnTo>
                <a:lnTo>
                  <a:pt x="1350623" y="1350623"/>
                </a:lnTo>
                <a:lnTo>
                  <a:pt x="0" y="1350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9"/>
          <p:cNvSpPr/>
          <p:nvPr/>
        </p:nvSpPr>
        <p:spPr>
          <a:xfrm>
            <a:off x="11506201" y="1732267"/>
            <a:ext cx="900415" cy="900415"/>
          </a:xfrm>
          <a:custGeom>
            <a:avLst/>
            <a:gdLst/>
            <a:ahLst/>
            <a:cxnLst/>
            <a:rect l="l" t="t" r="r" b="b"/>
            <a:pathLst>
              <a:path w="1350623" h="1350623">
                <a:moveTo>
                  <a:pt x="0" y="0"/>
                </a:moveTo>
                <a:lnTo>
                  <a:pt x="1350623" y="0"/>
                </a:lnTo>
                <a:lnTo>
                  <a:pt x="1350623" y="1350623"/>
                </a:lnTo>
                <a:lnTo>
                  <a:pt x="0" y="1350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Freeform 10"/>
          <p:cNvSpPr/>
          <p:nvPr/>
        </p:nvSpPr>
        <p:spPr>
          <a:xfrm>
            <a:off x="11506201" y="831851"/>
            <a:ext cx="900415" cy="900415"/>
          </a:xfrm>
          <a:custGeom>
            <a:avLst/>
            <a:gdLst/>
            <a:ahLst/>
            <a:cxnLst/>
            <a:rect l="l" t="t" r="r" b="b"/>
            <a:pathLst>
              <a:path w="1350623" h="1350623">
                <a:moveTo>
                  <a:pt x="0" y="0"/>
                </a:moveTo>
                <a:lnTo>
                  <a:pt x="1350623" y="0"/>
                </a:lnTo>
                <a:lnTo>
                  <a:pt x="1350623" y="1350623"/>
                </a:lnTo>
                <a:lnTo>
                  <a:pt x="0" y="1350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>
          <a:xfrm>
            <a:off x="4035003" y="3865673"/>
            <a:ext cx="4121995" cy="2863740"/>
          </a:xfrm>
          <a:custGeom>
            <a:avLst/>
            <a:gdLst/>
            <a:ahLst/>
            <a:cxnLst/>
            <a:rect l="l" t="t" r="r" b="b"/>
            <a:pathLst>
              <a:path w="6182992" h="4295610">
                <a:moveTo>
                  <a:pt x="0" y="0"/>
                </a:moveTo>
                <a:lnTo>
                  <a:pt x="6182992" y="0"/>
                </a:lnTo>
                <a:lnTo>
                  <a:pt x="6182992" y="4295610"/>
                </a:lnTo>
                <a:lnTo>
                  <a:pt x="0" y="42956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5964" b="-18174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TextBox 12"/>
          <p:cNvSpPr txBox="1"/>
          <p:nvPr/>
        </p:nvSpPr>
        <p:spPr>
          <a:xfrm>
            <a:off x="538665" y="871014"/>
            <a:ext cx="10844005" cy="2949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4666" b="1">
                <a:solidFill>
                  <a:srgbClr val="01173C"/>
                </a:solidFill>
                <a:latin typeface="Poppins Bold"/>
                <a:ea typeface="Poppins Bold"/>
                <a:cs typeface="Poppins Bold"/>
                <a:sym typeface="Poppins Bold"/>
              </a:rPr>
              <a:t>Evaluación de la influencia de la Proporción Volumétrica de Bloques (VBP) en los tiempos del final de la consolidación primaria en un material tipo Bimsoil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2936" y="5507783"/>
            <a:ext cx="3909737" cy="686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Omar E. Maestre Martínez</a:t>
            </a:r>
          </a:p>
          <a:p>
            <a:pPr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Mauricio Porras Gutiérrez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2935" y="129617"/>
            <a:ext cx="4505856" cy="221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3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TRABAJO DE GRADO II - MAESTRÍA EN INGENIERÍA CIVIL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70231" y="5427350"/>
            <a:ext cx="4286177" cy="10454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Director-Codirector:</a:t>
            </a:r>
          </a:p>
          <a:p>
            <a:pPr algn="r">
              <a:lnSpc>
                <a:spcPts val="2799"/>
              </a:lnSpc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Ing. Alfonso M. Ramos Cañón</a:t>
            </a:r>
          </a:p>
          <a:p>
            <a:pPr algn="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Ing. Andrés H. Clavijo Rincón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817077" y="6501281"/>
            <a:ext cx="131447" cy="337978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39"/>
              </a:lnSpc>
              <a:spcBef>
                <a:spcPct val="0"/>
              </a:spcBef>
            </a:pPr>
            <a:r>
              <a:rPr lang="en-US" sz="2028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8665" y="375150"/>
            <a:ext cx="294271" cy="310650"/>
          </a:xfrm>
          <a:custGeom>
            <a:avLst/>
            <a:gdLst/>
            <a:ahLst/>
            <a:cxnLst/>
            <a:rect l="l" t="t" r="r" b="b"/>
            <a:pathLst>
              <a:path w="441406" h="465975">
                <a:moveTo>
                  <a:pt x="0" y="0"/>
                </a:moveTo>
                <a:lnTo>
                  <a:pt x="441406" y="0"/>
                </a:lnTo>
                <a:lnTo>
                  <a:pt x="441406" y="465975"/>
                </a:lnTo>
                <a:lnTo>
                  <a:pt x="0" y="465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>
            <a:off x="-440050" y="-369796"/>
            <a:ext cx="13072101" cy="900271"/>
            <a:chOff x="0" y="0"/>
            <a:chExt cx="5164287" cy="3556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164287" cy="355663"/>
            </a:xfrm>
            <a:custGeom>
              <a:avLst/>
              <a:gdLst/>
              <a:ahLst/>
              <a:cxnLst/>
              <a:rect l="l" t="t" r="r" b="b"/>
              <a:pathLst>
                <a:path w="5164287" h="355663">
                  <a:moveTo>
                    <a:pt x="0" y="0"/>
                  </a:moveTo>
                  <a:lnTo>
                    <a:pt x="5164287" y="0"/>
                  </a:lnTo>
                  <a:lnTo>
                    <a:pt x="5164287" y="355663"/>
                  </a:lnTo>
                  <a:lnTo>
                    <a:pt x="0" y="355663"/>
                  </a:lnTo>
                  <a:close/>
                </a:path>
              </a:pathLst>
            </a:custGeom>
            <a:gradFill rotWithShape="1">
              <a:gsLst>
                <a:gs pos="0">
                  <a:srgbClr val="031840">
                    <a:alpha val="28500"/>
                  </a:srgbClr>
                </a:gs>
                <a:gs pos="100000">
                  <a:srgbClr val="01173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5164287" cy="42233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7"/>
                </a:lnSpc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>
            <a:off x="391529" y="119284"/>
            <a:ext cx="294271" cy="310650"/>
          </a:xfrm>
          <a:custGeom>
            <a:avLst/>
            <a:gdLst/>
            <a:ahLst/>
            <a:cxnLst/>
            <a:rect l="l" t="t" r="r" b="b"/>
            <a:pathLst>
              <a:path w="441406" h="465975">
                <a:moveTo>
                  <a:pt x="0" y="0"/>
                </a:moveTo>
                <a:lnTo>
                  <a:pt x="441406" y="0"/>
                </a:lnTo>
                <a:lnTo>
                  <a:pt x="441406" y="465975"/>
                </a:lnTo>
                <a:lnTo>
                  <a:pt x="0" y="465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>
            <a:off x="6851245" y="806319"/>
            <a:ext cx="4024411" cy="5365881"/>
          </a:xfrm>
          <a:custGeom>
            <a:avLst/>
            <a:gdLst/>
            <a:ahLst/>
            <a:cxnLst/>
            <a:rect l="l" t="t" r="r" b="b"/>
            <a:pathLst>
              <a:path w="6036617" h="8048822">
                <a:moveTo>
                  <a:pt x="0" y="0"/>
                </a:moveTo>
                <a:lnTo>
                  <a:pt x="6036616" y="0"/>
                </a:lnTo>
                <a:lnTo>
                  <a:pt x="6036616" y="8048822"/>
                </a:lnTo>
                <a:lnTo>
                  <a:pt x="0" y="80488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Freeform 8"/>
          <p:cNvSpPr/>
          <p:nvPr/>
        </p:nvSpPr>
        <p:spPr>
          <a:xfrm>
            <a:off x="11021705" y="-70798"/>
            <a:ext cx="1170295" cy="1170295"/>
          </a:xfrm>
          <a:custGeom>
            <a:avLst/>
            <a:gdLst/>
            <a:ahLst/>
            <a:cxnLst/>
            <a:rect l="l" t="t" r="r" b="b"/>
            <a:pathLst>
              <a:path w="1755443" h="1755443">
                <a:moveTo>
                  <a:pt x="0" y="0"/>
                </a:moveTo>
                <a:lnTo>
                  <a:pt x="1755443" y="0"/>
                </a:lnTo>
                <a:lnTo>
                  <a:pt x="1755443" y="1755443"/>
                </a:lnTo>
                <a:lnTo>
                  <a:pt x="0" y="17554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TextBox 9"/>
          <p:cNvSpPr txBox="1"/>
          <p:nvPr/>
        </p:nvSpPr>
        <p:spPr>
          <a:xfrm>
            <a:off x="1147811" y="748896"/>
            <a:ext cx="4190981" cy="6823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4000" b="1">
                <a:solidFill>
                  <a:srgbClr val="01173C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Introducción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8665" y="1761067"/>
            <a:ext cx="5104017" cy="2495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 ingeniería geotécnica ha abordado la consolidación bajo el supuesto de medios homogéneos.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Sin embargo, en campo es común encontrar materiales altamente heterogéneos, tales como los BIMSOILS.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32935" y="129617"/>
            <a:ext cx="4505856" cy="230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3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TRABAJO DE GRADO II - MAESTRÍA EN INGENIERÍA CIVIL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91529" y="5050790"/>
            <a:ext cx="1616215" cy="111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57" lvl="1" indent="-172729">
              <a:lnSpc>
                <a:spcPts val="2239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BIMSOIL</a:t>
            </a:r>
          </a:p>
          <a:p>
            <a:pPr marL="345457" lvl="1" indent="-172729">
              <a:lnSpc>
                <a:spcPts val="2239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VBP</a:t>
            </a:r>
          </a:p>
          <a:p>
            <a:pPr marL="345457" lvl="1" indent="-172729">
              <a:lnSpc>
                <a:spcPts val="2239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Cv</a:t>
            </a:r>
          </a:p>
          <a:p>
            <a:pPr marL="345457" lvl="1" indent="-172729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eF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007744" y="5050790"/>
            <a:ext cx="1733781" cy="1115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5457" lvl="1" indent="-172729">
              <a:lnSpc>
                <a:spcPts val="2239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</a:t>
            </a:r>
          </a:p>
          <a:p>
            <a:pPr marL="345457" lvl="1" indent="-172729">
              <a:lnSpc>
                <a:spcPts val="2239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mV</a:t>
            </a:r>
          </a:p>
          <a:p>
            <a:pPr marL="345457" lvl="1" indent="-172729">
              <a:lnSpc>
                <a:spcPts val="2239"/>
              </a:lnSpc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T50-T70-T90</a:t>
            </a:r>
          </a:p>
          <a:p>
            <a:pPr marL="345457" lvl="1" indent="-172729">
              <a:lnSpc>
                <a:spcPts val="2239"/>
              </a:lnSpc>
              <a:spcBef>
                <a:spcPct val="0"/>
              </a:spcBef>
              <a:buFont typeface="Arial"/>
              <a:buChar char="•"/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38665" y="4721314"/>
            <a:ext cx="1616215" cy="2690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239"/>
              </a:lnSpc>
              <a:spcBef>
                <a:spcPct val="0"/>
              </a:spcBef>
            </a:pPr>
            <a:r>
              <a:rPr lang="en-US" sz="16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Términos clave: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851245" y="6127750"/>
            <a:ext cx="4024411" cy="230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67"/>
              </a:lnSpc>
              <a:spcBef>
                <a:spcPct val="0"/>
              </a:spcBef>
            </a:pPr>
            <a:r>
              <a:rPr lang="en-US" sz="133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Cerro La Conejera.             Fuente Propia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778370" y="6328834"/>
            <a:ext cx="158698" cy="36035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036"/>
              </a:lnSpc>
              <a:spcBef>
                <a:spcPct val="0"/>
              </a:spcBef>
            </a:pPr>
            <a:r>
              <a:rPr lang="en-US" sz="216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es-CO" sz="1200"/>
          </a:p>
        </p:txBody>
      </p:sp>
      <p:grpSp>
        <p:nvGrpSpPr>
          <p:cNvPr id="3" name="Group 3"/>
          <p:cNvGrpSpPr/>
          <p:nvPr/>
        </p:nvGrpSpPr>
        <p:grpSpPr>
          <a:xfrm>
            <a:off x="776784" y="366154"/>
            <a:ext cx="5866329" cy="5355839"/>
            <a:chOff x="0" y="0"/>
            <a:chExt cx="2317562" cy="211588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317562" cy="2115887"/>
            </a:xfrm>
            <a:custGeom>
              <a:avLst/>
              <a:gdLst/>
              <a:ahLst/>
              <a:cxnLst/>
              <a:rect l="l" t="t" r="r" b="b"/>
              <a:pathLst>
                <a:path w="2317562" h="2115887">
                  <a:moveTo>
                    <a:pt x="33433" y="0"/>
                  </a:moveTo>
                  <a:lnTo>
                    <a:pt x="2284129" y="0"/>
                  </a:lnTo>
                  <a:cubicBezTo>
                    <a:pt x="2302594" y="0"/>
                    <a:pt x="2317562" y="14968"/>
                    <a:pt x="2317562" y="33433"/>
                  </a:cubicBezTo>
                  <a:lnTo>
                    <a:pt x="2317562" y="2082454"/>
                  </a:lnTo>
                  <a:cubicBezTo>
                    <a:pt x="2317562" y="2100918"/>
                    <a:pt x="2302594" y="2115887"/>
                    <a:pt x="2284129" y="2115887"/>
                  </a:cubicBezTo>
                  <a:lnTo>
                    <a:pt x="33433" y="2115887"/>
                  </a:lnTo>
                  <a:cubicBezTo>
                    <a:pt x="14968" y="2115887"/>
                    <a:pt x="0" y="2100918"/>
                    <a:pt x="0" y="2082454"/>
                  </a:cubicBezTo>
                  <a:lnTo>
                    <a:pt x="0" y="33433"/>
                  </a:lnTo>
                  <a:cubicBezTo>
                    <a:pt x="0" y="14968"/>
                    <a:pt x="14968" y="0"/>
                    <a:pt x="33433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  <a:ln w="19050" cap="rnd">
              <a:gradFill>
                <a:gsLst>
                  <a:gs pos="0">
                    <a:srgbClr val="031840">
                      <a:alpha val="25650"/>
                    </a:srgbClr>
                  </a:gs>
                  <a:gs pos="100000">
                    <a:srgbClr val="01173C">
                      <a:alpha val="9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s-CO" sz="12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2317562" cy="2182562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7"/>
                </a:lnSpc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>
            <a:off x="-214615" y="6172201"/>
            <a:ext cx="900415" cy="900415"/>
          </a:xfrm>
          <a:custGeom>
            <a:avLst/>
            <a:gdLst/>
            <a:ahLst/>
            <a:cxnLst/>
            <a:rect l="l" t="t" r="r" b="b"/>
            <a:pathLst>
              <a:path w="1350623" h="1350623">
                <a:moveTo>
                  <a:pt x="0" y="0"/>
                </a:moveTo>
                <a:lnTo>
                  <a:pt x="1350623" y="0"/>
                </a:lnTo>
                <a:lnTo>
                  <a:pt x="1350623" y="1350623"/>
                </a:lnTo>
                <a:lnTo>
                  <a:pt x="0" y="1350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200"/>
          </a:p>
        </p:txBody>
      </p:sp>
      <p:sp>
        <p:nvSpPr>
          <p:cNvPr id="7" name="Freeform 7"/>
          <p:cNvSpPr/>
          <p:nvPr/>
        </p:nvSpPr>
        <p:spPr>
          <a:xfrm>
            <a:off x="-214615" y="5271785"/>
            <a:ext cx="900415" cy="900415"/>
          </a:xfrm>
          <a:custGeom>
            <a:avLst/>
            <a:gdLst/>
            <a:ahLst/>
            <a:cxnLst/>
            <a:rect l="l" t="t" r="r" b="b"/>
            <a:pathLst>
              <a:path w="1350623" h="1350623">
                <a:moveTo>
                  <a:pt x="0" y="0"/>
                </a:moveTo>
                <a:lnTo>
                  <a:pt x="1350623" y="0"/>
                </a:lnTo>
                <a:lnTo>
                  <a:pt x="1350623" y="1350623"/>
                </a:lnTo>
                <a:lnTo>
                  <a:pt x="0" y="1350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200"/>
          </a:p>
        </p:txBody>
      </p:sp>
      <p:sp>
        <p:nvSpPr>
          <p:cNvPr id="8" name="Freeform 8"/>
          <p:cNvSpPr/>
          <p:nvPr/>
        </p:nvSpPr>
        <p:spPr>
          <a:xfrm>
            <a:off x="11506201" y="1732267"/>
            <a:ext cx="900415" cy="900415"/>
          </a:xfrm>
          <a:custGeom>
            <a:avLst/>
            <a:gdLst/>
            <a:ahLst/>
            <a:cxnLst/>
            <a:rect l="l" t="t" r="r" b="b"/>
            <a:pathLst>
              <a:path w="1350623" h="1350623">
                <a:moveTo>
                  <a:pt x="0" y="0"/>
                </a:moveTo>
                <a:lnTo>
                  <a:pt x="1350623" y="0"/>
                </a:lnTo>
                <a:lnTo>
                  <a:pt x="1350623" y="1350623"/>
                </a:lnTo>
                <a:lnTo>
                  <a:pt x="0" y="1350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200"/>
          </a:p>
        </p:txBody>
      </p:sp>
      <p:sp>
        <p:nvSpPr>
          <p:cNvPr id="9" name="Freeform 9"/>
          <p:cNvSpPr/>
          <p:nvPr/>
        </p:nvSpPr>
        <p:spPr>
          <a:xfrm>
            <a:off x="11506201" y="831851"/>
            <a:ext cx="900415" cy="900415"/>
          </a:xfrm>
          <a:custGeom>
            <a:avLst/>
            <a:gdLst/>
            <a:ahLst/>
            <a:cxnLst/>
            <a:rect l="l" t="t" r="r" b="b"/>
            <a:pathLst>
              <a:path w="1350623" h="1350623">
                <a:moveTo>
                  <a:pt x="0" y="0"/>
                </a:moveTo>
                <a:lnTo>
                  <a:pt x="1350623" y="0"/>
                </a:lnTo>
                <a:lnTo>
                  <a:pt x="1350623" y="1350623"/>
                </a:lnTo>
                <a:lnTo>
                  <a:pt x="0" y="1350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200"/>
          </a:p>
        </p:txBody>
      </p:sp>
      <p:sp>
        <p:nvSpPr>
          <p:cNvPr id="10" name="Freeform 10"/>
          <p:cNvSpPr/>
          <p:nvPr/>
        </p:nvSpPr>
        <p:spPr>
          <a:xfrm>
            <a:off x="1111798" y="1616729"/>
            <a:ext cx="4547449" cy="2450130"/>
          </a:xfrm>
          <a:custGeom>
            <a:avLst/>
            <a:gdLst/>
            <a:ahLst/>
            <a:cxnLst/>
            <a:rect l="l" t="t" r="r" b="b"/>
            <a:pathLst>
              <a:path w="6821173" h="3675195">
                <a:moveTo>
                  <a:pt x="0" y="0"/>
                </a:moveTo>
                <a:lnTo>
                  <a:pt x="6821173" y="0"/>
                </a:lnTo>
                <a:lnTo>
                  <a:pt x="6821173" y="3675195"/>
                </a:lnTo>
                <a:lnTo>
                  <a:pt x="0" y="36751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522" t="-14122" r="-15218" b="-18829"/>
            </a:stretch>
          </a:blipFill>
        </p:spPr>
        <p:txBody>
          <a:bodyPr/>
          <a:lstStyle/>
          <a:p>
            <a:endParaRPr lang="es-CO" sz="1200"/>
          </a:p>
        </p:txBody>
      </p:sp>
      <p:grpSp>
        <p:nvGrpSpPr>
          <p:cNvPr id="11" name="Group 11"/>
          <p:cNvGrpSpPr/>
          <p:nvPr/>
        </p:nvGrpSpPr>
        <p:grpSpPr>
          <a:xfrm>
            <a:off x="6953029" y="165741"/>
            <a:ext cx="5086580" cy="6586291"/>
            <a:chOff x="0" y="0"/>
            <a:chExt cx="2009513" cy="260199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009513" cy="2601992"/>
            </a:xfrm>
            <a:custGeom>
              <a:avLst/>
              <a:gdLst/>
              <a:ahLst/>
              <a:cxnLst/>
              <a:rect l="l" t="t" r="r" b="b"/>
              <a:pathLst>
                <a:path w="2009513" h="2601992">
                  <a:moveTo>
                    <a:pt x="38558" y="0"/>
                  </a:moveTo>
                  <a:lnTo>
                    <a:pt x="1970955" y="0"/>
                  </a:lnTo>
                  <a:cubicBezTo>
                    <a:pt x="1981181" y="0"/>
                    <a:pt x="1990989" y="4062"/>
                    <a:pt x="1998220" y="11293"/>
                  </a:cubicBezTo>
                  <a:cubicBezTo>
                    <a:pt x="2005451" y="18524"/>
                    <a:pt x="2009513" y="28332"/>
                    <a:pt x="2009513" y="38558"/>
                  </a:cubicBezTo>
                  <a:lnTo>
                    <a:pt x="2009513" y="2563434"/>
                  </a:lnTo>
                  <a:cubicBezTo>
                    <a:pt x="2009513" y="2584729"/>
                    <a:pt x="1992250" y="2601992"/>
                    <a:pt x="1970955" y="2601992"/>
                  </a:cubicBezTo>
                  <a:lnTo>
                    <a:pt x="38558" y="2601992"/>
                  </a:lnTo>
                  <a:cubicBezTo>
                    <a:pt x="17263" y="2601992"/>
                    <a:pt x="0" y="2584729"/>
                    <a:pt x="0" y="2563434"/>
                  </a:cubicBezTo>
                  <a:lnTo>
                    <a:pt x="0" y="38558"/>
                  </a:lnTo>
                  <a:cubicBezTo>
                    <a:pt x="0" y="17263"/>
                    <a:pt x="17263" y="0"/>
                    <a:pt x="38558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  <a:ln w="19050" cap="rnd">
              <a:gradFill>
                <a:gsLst>
                  <a:gs pos="0">
                    <a:srgbClr val="031840">
                      <a:alpha val="25650"/>
                    </a:srgbClr>
                  </a:gs>
                  <a:gs pos="100000">
                    <a:srgbClr val="01173C">
                      <a:alpha val="9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s-CO" sz="1200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2009513" cy="2668667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7"/>
                </a:lnSpc>
              </a:pPr>
              <a:endParaRPr sz="1200"/>
            </a:p>
          </p:txBody>
        </p:sp>
      </p:grpSp>
      <p:sp>
        <p:nvSpPr>
          <p:cNvPr id="14" name="Freeform 14"/>
          <p:cNvSpPr/>
          <p:nvPr/>
        </p:nvSpPr>
        <p:spPr>
          <a:xfrm>
            <a:off x="7483902" y="820751"/>
            <a:ext cx="4024833" cy="6037249"/>
          </a:xfrm>
          <a:custGeom>
            <a:avLst/>
            <a:gdLst/>
            <a:ahLst/>
            <a:cxnLst/>
            <a:rect l="l" t="t" r="r" b="b"/>
            <a:pathLst>
              <a:path w="6037250" h="9055874">
                <a:moveTo>
                  <a:pt x="0" y="0"/>
                </a:moveTo>
                <a:lnTo>
                  <a:pt x="6037250" y="0"/>
                </a:lnTo>
                <a:lnTo>
                  <a:pt x="6037250" y="9055874"/>
                </a:lnTo>
                <a:lnTo>
                  <a:pt x="0" y="90558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O" sz="1200"/>
          </a:p>
        </p:txBody>
      </p:sp>
      <p:sp>
        <p:nvSpPr>
          <p:cNvPr id="15" name="TextBox 15"/>
          <p:cNvSpPr txBox="1"/>
          <p:nvPr/>
        </p:nvSpPr>
        <p:spPr>
          <a:xfrm>
            <a:off x="1415990" y="448704"/>
            <a:ext cx="3939066" cy="929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4000" b="1">
                <a:solidFill>
                  <a:srgbClr val="01173C"/>
                </a:solidFill>
                <a:latin typeface="Poppins Bold"/>
                <a:ea typeface="Poppins Bold"/>
                <a:cs typeface="Poppins Bold"/>
                <a:sym typeface="Poppins Bold"/>
              </a:rPr>
              <a:t>Planteamiento </a:t>
            </a:r>
          </a:p>
          <a:p>
            <a:pPr algn="ctr">
              <a:lnSpc>
                <a:spcPts val="3480"/>
              </a:lnSpc>
            </a:pPr>
            <a:r>
              <a:rPr lang="en-US" sz="4000" b="1">
                <a:solidFill>
                  <a:srgbClr val="01173C"/>
                </a:solidFill>
                <a:latin typeface="Poppins Bold"/>
                <a:ea typeface="Poppins Bold"/>
                <a:cs typeface="Poppins Bold"/>
                <a:sym typeface="Poppins Bold"/>
              </a:rPr>
              <a:t>del  problema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91984" y="4656578"/>
            <a:ext cx="5104017" cy="8848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279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considerar los bloques puede conducir a una sobreestimación de los tiempos de consolidación.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1798" y="4022409"/>
            <a:ext cx="4798833" cy="230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67"/>
              </a:lnSpc>
              <a:spcBef>
                <a:spcPct val="0"/>
              </a:spcBef>
            </a:pPr>
            <a:r>
              <a:rPr lang="en-US" sz="1333">
                <a:solidFill>
                  <a:srgbClr val="B4B2BB"/>
                </a:solidFill>
                <a:latin typeface="Poppins"/>
                <a:ea typeface="Poppins"/>
                <a:cs typeface="Poppins"/>
                <a:sym typeface="Poppins"/>
              </a:rPr>
              <a:t>Cimentación sobre BIMSOIL        Fuente Creada con IA.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26786" y="364884"/>
            <a:ext cx="3939066" cy="4802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4000" b="1">
                <a:solidFill>
                  <a:srgbClr val="01173C"/>
                </a:solidFill>
                <a:latin typeface="Poppins Bold"/>
                <a:ea typeface="Poppins Bold"/>
                <a:cs typeface="Poppins Bold"/>
                <a:sym typeface="Poppins Bold"/>
              </a:rPr>
              <a:t>Antecedentes</a:t>
            </a:r>
          </a:p>
        </p:txBody>
      </p:sp>
      <p:sp>
        <p:nvSpPr>
          <p:cNvPr id="19" name="Freeform 19"/>
          <p:cNvSpPr/>
          <p:nvPr/>
        </p:nvSpPr>
        <p:spPr>
          <a:xfrm>
            <a:off x="1" y="1"/>
            <a:ext cx="841363" cy="841363"/>
          </a:xfrm>
          <a:custGeom>
            <a:avLst/>
            <a:gdLst/>
            <a:ahLst/>
            <a:cxnLst/>
            <a:rect l="l" t="t" r="r" b="b"/>
            <a:pathLst>
              <a:path w="1262045" h="1262045">
                <a:moveTo>
                  <a:pt x="0" y="0"/>
                </a:moveTo>
                <a:lnTo>
                  <a:pt x="1262045" y="0"/>
                </a:lnTo>
                <a:lnTo>
                  <a:pt x="1262045" y="1262045"/>
                </a:lnTo>
                <a:lnTo>
                  <a:pt x="0" y="12620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O" sz="1200"/>
          </a:p>
        </p:txBody>
      </p:sp>
      <p:sp>
        <p:nvSpPr>
          <p:cNvPr id="20" name="TextBox 20"/>
          <p:cNvSpPr txBox="1"/>
          <p:nvPr/>
        </p:nvSpPr>
        <p:spPr>
          <a:xfrm>
            <a:off x="11508109" y="6140450"/>
            <a:ext cx="97784" cy="22685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867"/>
              </a:lnSpc>
              <a:spcBef>
                <a:spcPct val="0"/>
              </a:spcBef>
            </a:pPr>
            <a:r>
              <a:rPr lang="en-US" sz="133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666"/>
            </a:stretch>
          </a:blipFill>
        </p:spPr>
        <p:txBody>
          <a:bodyPr/>
          <a:lstStyle/>
          <a:p>
            <a:endParaRPr lang="es-CO" sz="1200"/>
          </a:p>
        </p:txBody>
      </p:sp>
      <p:sp>
        <p:nvSpPr>
          <p:cNvPr id="3" name="TextBox 3"/>
          <p:cNvSpPr txBox="1"/>
          <p:nvPr/>
        </p:nvSpPr>
        <p:spPr>
          <a:xfrm>
            <a:off x="556650" y="1121974"/>
            <a:ext cx="11078702" cy="9051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333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¿De qué manera la VBP influye en los tiempos de consolidación de un Bimsoil?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2940050"/>
            <a:ext cx="2856645" cy="4563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0"/>
              </a:lnSpc>
            </a:pPr>
            <a:r>
              <a:rPr lang="en-US" sz="3334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HIPÓTESIS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3182" y="3546202"/>
            <a:ext cx="10765637" cy="2056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sz="3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Incrementar la VBP en un Bimsoil reduce los tiempos  para alcanzar el final de la consolidación primaria, debido a que la presencia de bloques incrementa la rigidez del medio.</a:t>
            </a:r>
          </a:p>
          <a:p>
            <a:pPr algn="just">
              <a:lnSpc>
                <a:spcPts val="3150"/>
              </a:lnSpc>
            </a:pPr>
            <a:endParaRPr lang="en-US" sz="30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1296566" y="-70798"/>
            <a:ext cx="895434" cy="895434"/>
          </a:xfrm>
          <a:custGeom>
            <a:avLst/>
            <a:gdLst/>
            <a:ahLst/>
            <a:cxnLst/>
            <a:rect l="l" t="t" r="r" b="b"/>
            <a:pathLst>
              <a:path w="1343151" h="1343151">
                <a:moveTo>
                  <a:pt x="0" y="0"/>
                </a:moveTo>
                <a:lnTo>
                  <a:pt x="1343151" y="0"/>
                </a:lnTo>
                <a:lnTo>
                  <a:pt x="1343151" y="1343151"/>
                </a:lnTo>
                <a:lnTo>
                  <a:pt x="0" y="13431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 sz="1200"/>
          </a:p>
        </p:txBody>
      </p:sp>
      <p:sp>
        <p:nvSpPr>
          <p:cNvPr id="7" name="TextBox 7"/>
          <p:cNvSpPr txBox="1"/>
          <p:nvPr/>
        </p:nvSpPr>
        <p:spPr>
          <a:xfrm>
            <a:off x="11508109" y="6140450"/>
            <a:ext cx="97784" cy="22685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867"/>
              </a:lnSpc>
              <a:spcBef>
                <a:spcPct val="0"/>
              </a:spcBef>
            </a:pPr>
            <a:r>
              <a:rPr lang="en-US" sz="13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31" t="-16592" b="-21961"/>
            </a:stretch>
          </a:blipFill>
        </p:spPr>
        <p:txBody>
          <a:bodyPr/>
          <a:lstStyle/>
          <a:p>
            <a:endParaRPr lang="es-CO" sz="1200"/>
          </a:p>
        </p:txBody>
      </p:sp>
      <p:sp>
        <p:nvSpPr>
          <p:cNvPr id="3" name="TextBox 3"/>
          <p:cNvSpPr txBox="1"/>
          <p:nvPr/>
        </p:nvSpPr>
        <p:spPr>
          <a:xfrm>
            <a:off x="391529" y="1002016"/>
            <a:ext cx="2864196" cy="68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4000" b="1">
                <a:solidFill>
                  <a:srgbClr val="01173C"/>
                </a:solidFill>
                <a:latin typeface="Poppins Bold"/>
                <a:ea typeface="Poppins Bold"/>
                <a:cs typeface="Poppins Bold"/>
                <a:sym typeface="Poppins Bold"/>
              </a:rPr>
              <a:t>OBJETIVOS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1529" y="2125325"/>
            <a:ext cx="3601707" cy="3213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GENERAL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Determinar la influencia de la Proporción Volumétrica de Bloques (VBP) en el tiempo para alcanzar el final de la consolidación primaria en un material tipo Bimsoil.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-214615" y="6172201"/>
            <a:ext cx="900415" cy="900415"/>
          </a:xfrm>
          <a:custGeom>
            <a:avLst/>
            <a:gdLst/>
            <a:ahLst/>
            <a:cxnLst/>
            <a:rect l="l" t="t" r="r" b="b"/>
            <a:pathLst>
              <a:path w="1350623" h="1350623">
                <a:moveTo>
                  <a:pt x="0" y="0"/>
                </a:moveTo>
                <a:lnTo>
                  <a:pt x="1350623" y="0"/>
                </a:lnTo>
                <a:lnTo>
                  <a:pt x="1350623" y="1350623"/>
                </a:lnTo>
                <a:lnTo>
                  <a:pt x="0" y="1350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200"/>
          </a:p>
        </p:txBody>
      </p:sp>
      <p:sp>
        <p:nvSpPr>
          <p:cNvPr id="6" name="Freeform 6"/>
          <p:cNvSpPr/>
          <p:nvPr/>
        </p:nvSpPr>
        <p:spPr>
          <a:xfrm>
            <a:off x="-214615" y="5271785"/>
            <a:ext cx="900415" cy="900415"/>
          </a:xfrm>
          <a:custGeom>
            <a:avLst/>
            <a:gdLst/>
            <a:ahLst/>
            <a:cxnLst/>
            <a:rect l="l" t="t" r="r" b="b"/>
            <a:pathLst>
              <a:path w="1350623" h="1350623">
                <a:moveTo>
                  <a:pt x="0" y="0"/>
                </a:moveTo>
                <a:lnTo>
                  <a:pt x="1350623" y="0"/>
                </a:lnTo>
                <a:lnTo>
                  <a:pt x="1350623" y="1350623"/>
                </a:lnTo>
                <a:lnTo>
                  <a:pt x="0" y="1350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200"/>
          </a:p>
        </p:txBody>
      </p:sp>
      <p:sp>
        <p:nvSpPr>
          <p:cNvPr id="7" name="Freeform 7"/>
          <p:cNvSpPr/>
          <p:nvPr/>
        </p:nvSpPr>
        <p:spPr>
          <a:xfrm>
            <a:off x="11506201" y="1732267"/>
            <a:ext cx="900415" cy="900415"/>
          </a:xfrm>
          <a:custGeom>
            <a:avLst/>
            <a:gdLst/>
            <a:ahLst/>
            <a:cxnLst/>
            <a:rect l="l" t="t" r="r" b="b"/>
            <a:pathLst>
              <a:path w="1350623" h="1350623">
                <a:moveTo>
                  <a:pt x="0" y="0"/>
                </a:moveTo>
                <a:lnTo>
                  <a:pt x="1350623" y="0"/>
                </a:lnTo>
                <a:lnTo>
                  <a:pt x="1350623" y="1350623"/>
                </a:lnTo>
                <a:lnTo>
                  <a:pt x="0" y="1350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200"/>
          </a:p>
        </p:txBody>
      </p:sp>
      <p:sp>
        <p:nvSpPr>
          <p:cNvPr id="8" name="Freeform 8"/>
          <p:cNvSpPr/>
          <p:nvPr/>
        </p:nvSpPr>
        <p:spPr>
          <a:xfrm>
            <a:off x="11506201" y="831851"/>
            <a:ext cx="900415" cy="900415"/>
          </a:xfrm>
          <a:custGeom>
            <a:avLst/>
            <a:gdLst/>
            <a:ahLst/>
            <a:cxnLst/>
            <a:rect l="l" t="t" r="r" b="b"/>
            <a:pathLst>
              <a:path w="1350623" h="1350623">
                <a:moveTo>
                  <a:pt x="0" y="0"/>
                </a:moveTo>
                <a:lnTo>
                  <a:pt x="1350623" y="0"/>
                </a:lnTo>
                <a:lnTo>
                  <a:pt x="1350623" y="1350623"/>
                </a:lnTo>
                <a:lnTo>
                  <a:pt x="0" y="13506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200"/>
          </a:p>
        </p:txBody>
      </p:sp>
      <p:grpSp>
        <p:nvGrpSpPr>
          <p:cNvPr id="9" name="Group 9"/>
          <p:cNvGrpSpPr/>
          <p:nvPr/>
        </p:nvGrpSpPr>
        <p:grpSpPr>
          <a:xfrm>
            <a:off x="-440050" y="-369796"/>
            <a:ext cx="13072101" cy="900271"/>
            <a:chOff x="0" y="0"/>
            <a:chExt cx="5164287" cy="3556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164287" cy="355663"/>
            </a:xfrm>
            <a:custGeom>
              <a:avLst/>
              <a:gdLst/>
              <a:ahLst/>
              <a:cxnLst/>
              <a:rect l="l" t="t" r="r" b="b"/>
              <a:pathLst>
                <a:path w="5164287" h="355663">
                  <a:moveTo>
                    <a:pt x="0" y="0"/>
                  </a:moveTo>
                  <a:lnTo>
                    <a:pt x="5164287" y="0"/>
                  </a:lnTo>
                  <a:lnTo>
                    <a:pt x="5164287" y="355663"/>
                  </a:lnTo>
                  <a:lnTo>
                    <a:pt x="0" y="355663"/>
                  </a:lnTo>
                  <a:close/>
                </a:path>
              </a:pathLst>
            </a:custGeom>
            <a:gradFill rotWithShape="1">
              <a:gsLst>
                <a:gs pos="0">
                  <a:srgbClr val="031840">
                    <a:alpha val="28500"/>
                  </a:srgbClr>
                </a:gs>
                <a:gs pos="100000">
                  <a:srgbClr val="01173C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s-CO" sz="1200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5164287" cy="422338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7"/>
                </a:lnSpc>
              </a:pPr>
              <a:endParaRPr sz="1200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91529" y="119284"/>
            <a:ext cx="294271" cy="310650"/>
          </a:xfrm>
          <a:custGeom>
            <a:avLst/>
            <a:gdLst/>
            <a:ahLst/>
            <a:cxnLst/>
            <a:rect l="l" t="t" r="r" b="b"/>
            <a:pathLst>
              <a:path w="441406" h="465975">
                <a:moveTo>
                  <a:pt x="0" y="0"/>
                </a:moveTo>
                <a:lnTo>
                  <a:pt x="441406" y="0"/>
                </a:lnTo>
                <a:lnTo>
                  <a:pt x="441406" y="465975"/>
                </a:lnTo>
                <a:lnTo>
                  <a:pt x="0" y="46597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200"/>
          </a:p>
        </p:txBody>
      </p:sp>
      <p:sp>
        <p:nvSpPr>
          <p:cNvPr id="13" name="TextBox 13"/>
          <p:cNvSpPr txBox="1"/>
          <p:nvPr/>
        </p:nvSpPr>
        <p:spPr>
          <a:xfrm>
            <a:off x="832935" y="129617"/>
            <a:ext cx="4505856" cy="230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867"/>
              </a:lnSpc>
            </a:pPr>
            <a:r>
              <a:rPr lang="en-US" sz="133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TRABAJO DE GRADO II - MAESTRÍA EN INGENIERÍA CIVIL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596756" y="2125324"/>
            <a:ext cx="3947725" cy="4290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ESPECÍFICOS</a:t>
            </a:r>
          </a:p>
          <a:p>
            <a:pPr algn="just">
              <a:lnSpc>
                <a:spcPts val="2800"/>
              </a:lnSpc>
            </a:pPr>
            <a:endParaRPr lang="en-US" sz="200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Establecer la relación entre la VBP y el Cv a partir de una formulación analítica.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 Verificar validez del Cv(VBP).</a:t>
            </a:r>
          </a:p>
          <a:p>
            <a:pPr algn="just">
              <a:lnSpc>
                <a:spcPts val="2800"/>
              </a:lnSpc>
            </a:pPr>
            <a:endParaRPr lang="en-US" sz="20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•Calcular los tiempos de consolidación mediante la implementación de un modelo numérico de elementos finitos.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1183918" y="-70798"/>
            <a:ext cx="1008082" cy="1008082"/>
          </a:xfrm>
          <a:custGeom>
            <a:avLst/>
            <a:gdLst/>
            <a:ahLst/>
            <a:cxnLst/>
            <a:rect l="l" t="t" r="r" b="b"/>
            <a:pathLst>
              <a:path w="1512123" h="1512123">
                <a:moveTo>
                  <a:pt x="0" y="0"/>
                </a:moveTo>
                <a:lnTo>
                  <a:pt x="1512123" y="0"/>
                </a:lnTo>
                <a:lnTo>
                  <a:pt x="1512123" y="1512123"/>
                </a:lnTo>
                <a:lnTo>
                  <a:pt x="0" y="15121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CO" sz="1200"/>
          </a:p>
        </p:txBody>
      </p:sp>
      <p:sp>
        <p:nvSpPr>
          <p:cNvPr id="16" name="TextBox 16"/>
          <p:cNvSpPr txBox="1"/>
          <p:nvPr/>
        </p:nvSpPr>
        <p:spPr>
          <a:xfrm>
            <a:off x="11835005" y="6316995"/>
            <a:ext cx="121828" cy="276358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332"/>
              </a:lnSpc>
              <a:spcBef>
                <a:spcPct val="0"/>
              </a:spcBef>
            </a:pPr>
            <a:r>
              <a:rPr lang="en-US" sz="166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s-CO" sz="1200"/>
          </a:p>
        </p:txBody>
      </p:sp>
      <p:grpSp>
        <p:nvGrpSpPr>
          <p:cNvPr id="3" name="Group 3"/>
          <p:cNvGrpSpPr/>
          <p:nvPr/>
        </p:nvGrpSpPr>
        <p:grpSpPr>
          <a:xfrm>
            <a:off x="5125452" y="170864"/>
            <a:ext cx="6562010" cy="6530385"/>
            <a:chOff x="0" y="0"/>
            <a:chExt cx="2592399" cy="25799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92399" cy="2579905"/>
            </a:xfrm>
            <a:custGeom>
              <a:avLst/>
              <a:gdLst/>
              <a:ahLst/>
              <a:cxnLst/>
              <a:rect l="l" t="t" r="r" b="b"/>
              <a:pathLst>
                <a:path w="2592399" h="2579905">
                  <a:moveTo>
                    <a:pt x="29889" y="0"/>
                  </a:moveTo>
                  <a:lnTo>
                    <a:pt x="2562510" y="0"/>
                  </a:lnTo>
                  <a:cubicBezTo>
                    <a:pt x="2579017" y="0"/>
                    <a:pt x="2592399" y="13382"/>
                    <a:pt x="2592399" y="29889"/>
                  </a:cubicBezTo>
                  <a:lnTo>
                    <a:pt x="2592399" y="2550017"/>
                  </a:lnTo>
                  <a:cubicBezTo>
                    <a:pt x="2592399" y="2566524"/>
                    <a:pt x="2579017" y="2579905"/>
                    <a:pt x="2562510" y="2579905"/>
                  </a:cubicBezTo>
                  <a:lnTo>
                    <a:pt x="29889" y="2579905"/>
                  </a:lnTo>
                  <a:cubicBezTo>
                    <a:pt x="13382" y="2579905"/>
                    <a:pt x="0" y="2566524"/>
                    <a:pt x="0" y="2550017"/>
                  </a:cubicBezTo>
                  <a:lnTo>
                    <a:pt x="0" y="29889"/>
                  </a:lnTo>
                  <a:cubicBezTo>
                    <a:pt x="0" y="13382"/>
                    <a:pt x="13382" y="0"/>
                    <a:pt x="29889" y="0"/>
                  </a:cubicBezTo>
                  <a:close/>
                </a:path>
              </a:pathLst>
            </a:custGeom>
            <a:solidFill>
              <a:srgbClr val="FFFFFF">
                <a:alpha val="89804"/>
              </a:srgbClr>
            </a:solidFill>
            <a:ln w="38100" cap="rnd">
              <a:gradFill>
                <a:gsLst>
                  <a:gs pos="0">
                    <a:srgbClr val="031840">
                      <a:alpha val="25650"/>
                    </a:srgbClr>
                  </a:gs>
                  <a:gs pos="100000">
                    <a:srgbClr val="01173C">
                      <a:alpha val="90000"/>
                    </a:srgbClr>
                  </a:gs>
                </a:gsLst>
                <a:lin ang="0"/>
              </a:gradFill>
              <a:prstDash val="solid"/>
              <a:round/>
            </a:ln>
          </p:spPr>
          <p:txBody>
            <a:bodyPr/>
            <a:lstStyle/>
            <a:p>
              <a:endParaRPr lang="es-CO" sz="120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2592399" cy="264658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867"/>
                </a:lnSpc>
              </a:pPr>
              <a:endParaRPr sz="1200"/>
            </a:p>
          </p:txBody>
        </p:sp>
      </p:grpSp>
      <p:sp>
        <p:nvSpPr>
          <p:cNvPr id="6" name="Freeform 6"/>
          <p:cNvSpPr/>
          <p:nvPr/>
        </p:nvSpPr>
        <p:spPr>
          <a:xfrm>
            <a:off x="5347179" y="311390"/>
            <a:ext cx="748821" cy="748821"/>
          </a:xfrm>
          <a:custGeom>
            <a:avLst/>
            <a:gdLst/>
            <a:ahLst/>
            <a:cxnLst/>
            <a:rect l="l" t="t" r="r" b="b"/>
            <a:pathLst>
              <a:path w="1123232" h="1123232">
                <a:moveTo>
                  <a:pt x="0" y="0"/>
                </a:moveTo>
                <a:lnTo>
                  <a:pt x="1123232" y="0"/>
                </a:lnTo>
                <a:lnTo>
                  <a:pt x="1123232" y="1123232"/>
                </a:lnTo>
                <a:lnTo>
                  <a:pt x="0" y="112323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 sz="1200"/>
          </a:p>
        </p:txBody>
      </p:sp>
      <p:sp>
        <p:nvSpPr>
          <p:cNvPr id="7" name="Freeform 7"/>
          <p:cNvSpPr/>
          <p:nvPr/>
        </p:nvSpPr>
        <p:spPr>
          <a:xfrm>
            <a:off x="5721590" y="311390"/>
            <a:ext cx="5564389" cy="6223917"/>
          </a:xfrm>
          <a:custGeom>
            <a:avLst/>
            <a:gdLst/>
            <a:ahLst/>
            <a:cxnLst/>
            <a:rect l="l" t="t" r="r" b="b"/>
            <a:pathLst>
              <a:path w="8346583" h="9335876">
                <a:moveTo>
                  <a:pt x="0" y="0"/>
                </a:moveTo>
                <a:lnTo>
                  <a:pt x="8346583" y="0"/>
                </a:lnTo>
                <a:lnTo>
                  <a:pt x="8346583" y="9335876"/>
                </a:lnTo>
                <a:lnTo>
                  <a:pt x="0" y="93358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42" t="-8448" r="-542"/>
            </a:stretch>
          </a:blipFill>
        </p:spPr>
        <p:txBody>
          <a:bodyPr/>
          <a:lstStyle/>
          <a:p>
            <a:endParaRPr lang="es-CO" sz="1200"/>
          </a:p>
        </p:txBody>
      </p:sp>
      <p:sp>
        <p:nvSpPr>
          <p:cNvPr id="8" name="TextBox 8"/>
          <p:cNvSpPr txBox="1"/>
          <p:nvPr/>
        </p:nvSpPr>
        <p:spPr>
          <a:xfrm>
            <a:off x="333101" y="4311442"/>
            <a:ext cx="3559342" cy="68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5600"/>
              </a:lnSpc>
            </a:pPr>
            <a:r>
              <a:rPr lang="en-US" sz="4000" b="1">
                <a:solidFill>
                  <a:srgbClr val="01173C"/>
                </a:solidFill>
                <a:latin typeface="Poppins Bold"/>
                <a:ea typeface="Poppins Bold"/>
                <a:cs typeface="Poppins Bold"/>
                <a:sym typeface="Poppins Bold"/>
              </a:rPr>
              <a:t>Metodología</a:t>
            </a:r>
          </a:p>
        </p:txBody>
      </p:sp>
      <p:sp>
        <p:nvSpPr>
          <p:cNvPr id="9" name="Freeform 9"/>
          <p:cNvSpPr/>
          <p:nvPr/>
        </p:nvSpPr>
        <p:spPr>
          <a:xfrm>
            <a:off x="1" y="1"/>
            <a:ext cx="1170295" cy="1170295"/>
          </a:xfrm>
          <a:custGeom>
            <a:avLst/>
            <a:gdLst/>
            <a:ahLst/>
            <a:cxnLst/>
            <a:rect l="l" t="t" r="r" b="b"/>
            <a:pathLst>
              <a:path w="1755443" h="1755443">
                <a:moveTo>
                  <a:pt x="0" y="0"/>
                </a:moveTo>
                <a:lnTo>
                  <a:pt x="1755443" y="0"/>
                </a:lnTo>
                <a:lnTo>
                  <a:pt x="1755443" y="1755443"/>
                </a:lnTo>
                <a:lnTo>
                  <a:pt x="0" y="17554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s-CO" sz="1200"/>
          </a:p>
        </p:txBody>
      </p:sp>
      <p:sp>
        <p:nvSpPr>
          <p:cNvPr id="10" name="TextBox 10"/>
          <p:cNvSpPr txBox="1"/>
          <p:nvPr/>
        </p:nvSpPr>
        <p:spPr>
          <a:xfrm>
            <a:off x="11442061" y="6134100"/>
            <a:ext cx="128241" cy="288412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435"/>
              </a:lnSpc>
              <a:spcBef>
                <a:spcPct val="0"/>
              </a:spcBef>
            </a:pPr>
            <a:r>
              <a:rPr lang="en-US" sz="1739">
                <a:solidFill>
                  <a:srgbClr val="01173C"/>
                </a:solidFill>
                <a:latin typeface="Open Sans"/>
                <a:ea typeface="Open Sans"/>
                <a:cs typeface="Open Sans"/>
                <a:sym typeface="Open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_javeria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82880"/>
            <a:ext cx="749808" cy="7498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138160" y="25603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algn="r">
              <a:buNone/>
            </a:pPr>
            <a:r>
              <a:rPr lang="en-US" sz="860" dirty="0">
                <a:solidFill>
                  <a:srgbClr val="003F7D"/>
                </a:solidFill>
                <a:latin typeface="Arial"/>
              </a:rPr>
              <a:t>TRABAJO DE GRADOII</a:t>
            </a:r>
          </a:p>
        </p:txBody>
      </p:sp>
      <p:sp>
        <p:nvSpPr>
          <p:cNvPr id="4" name="Text 1"/>
          <p:cNvSpPr txBox="1"/>
          <p:nvPr/>
        </p:nvSpPr>
        <p:spPr>
          <a:xfrm>
            <a:off x="8138160" y="5029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7A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METODOLOGÍA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188720" y="941832"/>
            <a:ext cx="10698480" cy="0"/>
          </a:xfrm>
          <a:prstGeom prst="line">
            <a:avLst/>
          </a:prstGeom>
          <a:noFill/>
          <a:ln w="15875">
            <a:solidFill>
              <a:srgbClr val="005CA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3"/>
          <p:cNvSpPr txBox="1"/>
          <p:nvPr/>
        </p:nvSpPr>
        <p:spPr>
          <a:xfrm>
            <a:off x="457200" y="102412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300" b="1" dirty="0" err="1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Objetivo</a:t>
            </a:r>
            <a:r>
              <a:rPr lang="en-US" sz="2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1: </a:t>
            </a:r>
            <a:r>
              <a:rPr lang="en-US" sz="2300" b="1" dirty="0" err="1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Extensión</a:t>
            </a:r>
            <a:r>
              <a:rPr lang="en-US" sz="2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de la Teoría de Consolidación 1D de Terzaghi a Bimsoils</a:t>
            </a:r>
            <a:endParaRPr lang="en-US" sz="2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4630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005C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Deducción del coeficiente de consolidación Cv,BIM = f(VBP)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7200" y="1828800"/>
            <a:ext cx="5463540" cy="1847088"/>
          </a:xfrm>
          <a:prstGeom prst="roundRect">
            <a:avLst>
              <a:gd name="adj" fmla="val 3465"/>
            </a:avLst>
          </a:prstGeom>
          <a:solidFill>
            <a:srgbClr val="F7FAFD"/>
          </a:solidFill>
          <a:ln w="12700">
            <a:solidFill>
              <a:srgbClr val="B8D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603504" y="1929384"/>
            <a:ext cx="310896" cy="310896"/>
          </a:xfrm>
          <a:prstGeom prst="ellipse">
            <a:avLst/>
          </a:prstGeom>
          <a:solidFill>
            <a:srgbClr val="005CA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 txBox="1"/>
          <p:nvPr/>
        </p:nvSpPr>
        <p:spPr>
          <a:xfrm>
            <a:off x="603504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969264" y="1865376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Punto de partida — Terzaghi 1D</a:t>
            </a:r>
            <a:endParaRPr lang="en-US" sz="1350" dirty="0"/>
          </a:p>
        </p:txBody>
      </p:sp>
      <p:pic>
        <p:nvPicPr>
          <p:cNvPr id="12" name="Image 1" descr="slide_eq/eq_terzagh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3790" y="2404872"/>
            <a:ext cx="1430359" cy="530352"/>
          </a:xfrm>
          <a:prstGeom prst="rect">
            <a:avLst/>
          </a:prstGeom>
        </p:spPr>
      </p:pic>
      <p:pic>
        <p:nvPicPr>
          <p:cNvPr id="13" name="Image 2" descr="slide_eq/eq_cv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6352" y="3044952"/>
            <a:ext cx="1725235" cy="530352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6270955" y="1828800"/>
            <a:ext cx="5463540" cy="1847088"/>
          </a:xfrm>
          <a:prstGeom prst="roundRect">
            <a:avLst>
              <a:gd name="adj" fmla="val 3465"/>
            </a:avLst>
          </a:prstGeom>
          <a:solidFill>
            <a:srgbClr val="F7FAFD"/>
          </a:solidFill>
          <a:ln w="12700">
            <a:solidFill>
              <a:srgbClr val="B8D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0"/>
          <p:cNvSpPr/>
          <p:nvPr/>
        </p:nvSpPr>
        <p:spPr>
          <a:xfrm>
            <a:off x="6417259" y="1929384"/>
            <a:ext cx="310896" cy="310896"/>
          </a:xfrm>
          <a:prstGeom prst="ellipse">
            <a:avLst/>
          </a:prstGeom>
          <a:solidFill>
            <a:srgbClr val="005CA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1"/>
          <p:cNvSpPr txBox="1"/>
          <p:nvPr/>
        </p:nvSpPr>
        <p:spPr>
          <a:xfrm>
            <a:off x="6417259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783019" y="1865376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Relaciones de fase del Bimsoil</a:t>
            </a:r>
            <a:endParaRPr lang="en-US" sz="1350" dirty="0"/>
          </a:p>
        </p:txBody>
      </p:sp>
      <p:pic>
        <p:nvPicPr>
          <p:cNvPr id="18" name="Image 3" descr="slide_eq/eq_fase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4171" y="2446020"/>
            <a:ext cx="3377108" cy="502920"/>
          </a:xfrm>
          <a:prstGeom prst="rect">
            <a:avLst/>
          </a:prstGeom>
        </p:spPr>
      </p:pic>
      <p:pic>
        <p:nvPicPr>
          <p:cNvPr id="19" name="Image 4" descr="slide_eq/eq_fase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3678" y="2994660"/>
            <a:ext cx="2858094" cy="502920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457200" y="3840480"/>
            <a:ext cx="5463540" cy="1847088"/>
          </a:xfrm>
          <a:prstGeom prst="roundRect">
            <a:avLst>
              <a:gd name="adj" fmla="val 3465"/>
            </a:avLst>
          </a:prstGeom>
          <a:solidFill>
            <a:srgbClr val="F7FAFD"/>
          </a:solidFill>
          <a:ln w="12700">
            <a:solidFill>
              <a:srgbClr val="B8D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Shape 14"/>
          <p:cNvSpPr/>
          <p:nvPr/>
        </p:nvSpPr>
        <p:spPr>
          <a:xfrm>
            <a:off x="603504" y="3941064"/>
            <a:ext cx="310896" cy="310896"/>
          </a:xfrm>
          <a:prstGeom prst="ellipse">
            <a:avLst/>
          </a:prstGeom>
          <a:solidFill>
            <a:srgbClr val="005CA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Text 15"/>
          <p:cNvSpPr txBox="1"/>
          <p:nvPr/>
        </p:nvSpPr>
        <p:spPr>
          <a:xfrm>
            <a:off x="603504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969264" y="3877056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Deformación volumétrica corregida</a:t>
            </a:r>
            <a:endParaRPr lang="en-US" sz="1350" dirty="0"/>
          </a:p>
        </p:txBody>
      </p:sp>
      <p:pic>
        <p:nvPicPr>
          <p:cNvPr id="24" name="Image 5" descr="slide_eq/eq_eps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78938" y="4434840"/>
            <a:ext cx="1420063" cy="4572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3188970" y="4919472"/>
            <a:ext cx="0" cy="201168"/>
          </a:xfrm>
          <a:prstGeom prst="line">
            <a:avLst/>
          </a:prstGeom>
          <a:noFill/>
          <a:ln w="15875">
            <a:solidFill>
              <a:srgbClr val="0B7A34"/>
            </a:solidFill>
            <a:prstDash val="solid"/>
            <a:tailEnd type="triangle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18"/>
          <p:cNvSpPr txBox="1"/>
          <p:nvPr/>
        </p:nvSpPr>
        <p:spPr>
          <a:xfrm>
            <a:off x="3326130" y="488289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0B7A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sustituir VF y agrupar (VBP, eF)</a:t>
            </a:r>
            <a:endParaRPr lang="en-US" sz="900" dirty="0"/>
          </a:p>
        </p:txBody>
      </p:sp>
      <p:pic>
        <p:nvPicPr>
          <p:cNvPr id="27" name="Image 6" descr="slide_eq/eq_eps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40026" y="5148072"/>
            <a:ext cx="2297887" cy="457200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6270955" y="3840480"/>
            <a:ext cx="5463540" cy="1847088"/>
          </a:xfrm>
          <a:prstGeom prst="roundRect">
            <a:avLst>
              <a:gd name="adj" fmla="val 3465"/>
            </a:avLst>
          </a:prstGeom>
          <a:solidFill>
            <a:srgbClr val="FCF3D8"/>
          </a:solidFill>
          <a:ln w="12700">
            <a:solidFill>
              <a:srgbClr val="D9C48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0"/>
          <p:cNvSpPr/>
          <p:nvPr/>
        </p:nvSpPr>
        <p:spPr>
          <a:xfrm>
            <a:off x="6417259" y="3941064"/>
            <a:ext cx="310896" cy="310896"/>
          </a:xfrm>
          <a:prstGeom prst="ellipse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1"/>
          <p:cNvSpPr txBox="1"/>
          <p:nvPr/>
        </p:nvSpPr>
        <p:spPr>
          <a:xfrm>
            <a:off x="6417259" y="39410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2"/>
          <p:cNvSpPr txBox="1"/>
          <p:nvPr/>
        </p:nvSpPr>
        <p:spPr>
          <a:xfrm>
            <a:off x="6783019" y="3877056"/>
            <a:ext cx="48600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A15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Coeficiente de consolidación del Bimsoil</a:t>
            </a:r>
            <a:endParaRPr lang="en-US" sz="1350" dirty="0"/>
          </a:p>
        </p:txBody>
      </p:sp>
      <p:pic>
        <p:nvPicPr>
          <p:cNvPr id="32" name="Image 7" descr="slide_eq/eq_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10985" y="4418444"/>
            <a:ext cx="4983480" cy="883283"/>
          </a:xfrm>
          <a:prstGeom prst="rect">
            <a:avLst/>
          </a:prstGeom>
        </p:spPr>
      </p:pic>
      <p:sp>
        <p:nvSpPr>
          <p:cNvPr id="33" name="Shape 23"/>
          <p:cNvSpPr/>
          <p:nvPr/>
        </p:nvSpPr>
        <p:spPr>
          <a:xfrm>
            <a:off x="457200" y="5852160"/>
            <a:ext cx="11277295" cy="548640"/>
          </a:xfrm>
          <a:prstGeom prst="roundRect">
            <a:avLst>
              <a:gd name="adj" fmla="val 8333"/>
            </a:avLst>
          </a:prstGeom>
          <a:solidFill>
            <a:srgbClr val="E8F2FA"/>
          </a:solidFill>
          <a:ln w="9525">
            <a:solidFill>
              <a:srgbClr val="B8D3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4" name="Text 24"/>
          <p:cNvSpPr txBox="1"/>
          <p:nvPr/>
        </p:nvSpPr>
        <p:spPr>
          <a:xfrm>
            <a:off x="640080" y="585216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 clave:  </a:t>
            </a:r>
            <a:r>
              <a:rPr lang="en-US" sz="1150" dirty="0">
                <a:solidFill>
                  <a:srgbClr val="1F34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Cv,BIM extiende la teoría de Terzaghi incorporando la proporción volumétrica de bloques (VBP) mediante las relaciones de fase; es el coeficiente que alimenta el modelo equivalente analítico.</a:t>
            </a:r>
            <a:endParaRPr lang="en-US" sz="1150" dirty="0"/>
          </a:p>
        </p:txBody>
      </p:sp>
      <p:sp>
        <p:nvSpPr>
          <p:cNvPr id="35" name="Text 25"/>
          <p:cNvSpPr txBox="1"/>
          <p:nvPr/>
        </p:nvSpPr>
        <p:spPr>
          <a:xfrm>
            <a:off x="457200" y="6473952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7A8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Fuente: elaboración propia — deducción a partir de la Teoría de Consolidación 1D de Terzaghi (Tesis de Maestría, Maestre–Porras).</a:t>
            </a:r>
            <a:endParaRPr lang="en-US" sz="800" dirty="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49834C37-9BA7-B204-AE49-C22E53EEB6E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82793" y="5360547"/>
            <a:ext cx="1639864" cy="2447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757bbef-ee38-4b69-a41d-90aa6c2486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91440"/>
            <a:ext cx="576072" cy="576072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61488" y="448056"/>
            <a:ext cx="9144000" cy="13716"/>
          </a:xfrm>
          <a:prstGeom prst="rect">
            <a:avLst/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92640" y="235312"/>
            <a:ext cx="2103120" cy="18774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r"/>
            <a:r>
              <a:rPr sz="860" b="0" i="0" dirty="0">
                <a:solidFill>
                  <a:srgbClr val="003F7D"/>
                </a:solidFill>
                <a:latin typeface="Arial"/>
              </a:rPr>
              <a:t>TRABAJO DE GRADO</a:t>
            </a:r>
            <a:r>
              <a:rPr lang="es-MX" sz="860" b="0" i="0" dirty="0">
                <a:solidFill>
                  <a:srgbClr val="003F7D"/>
                </a:solidFill>
                <a:latin typeface="Arial"/>
              </a:rPr>
              <a:t> II</a:t>
            </a:r>
            <a:endParaRPr sz="860" b="0" i="0" dirty="0">
              <a:solidFill>
                <a:srgbClr val="003F7D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02336" y="636793"/>
            <a:ext cx="7315200" cy="4401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r>
              <a:rPr lang="es-MX" sz="2500" b="1" dirty="0">
                <a:solidFill>
                  <a:srgbClr val="003F7D"/>
                </a:solidFill>
                <a:latin typeface="Times New Roman"/>
              </a:rPr>
              <a:t>Objetivo 2: </a:t>
            </a:r>
            <a:r>
              <a:rPr sz="2500" b="1" dirty="0" err="1">
                <a:solidFill>
                  <a:srgbClr val="003F7D"/>
                </a:solidFill>
                <a:latin typeface="Times New Roman"/>
              </a:rPr>
              <a:t>Validación</a:t>
            </a:r>
            <a:r>
              <a:rPr sz="2500" b="1" dirty="0">
                <a:solidFill>
                  <a:srgbClr val="003F7D"/>
                </a:solidFill>
                <a:latin typeface="Times New Roman"/>
              </a:rPr>
              <a:t> del </a:t>
            </a:r>
            <a:r>
              <a:rPr sz="2500" b="1" dirty="0" err="1">
                <a:solidFill>
                  <a:srgbClr val="003F7D"/>
                </a:solidFill>
                <a:latin typeface="Times New Roman"/>
              </a:rPr>
              <a:t>Cv</a:t>
            </a:r>
            <a:r>
              <a:rPr sz="2500" b="1" dirty="0">
                <a:solidFill>
                  <a:srgbClr val="003F7D"/>
                </a:solidFill>
                <a:latin typeface="Times New Roman"/>
              </a:rPr>
              <a:t> </a:t>
            </a:r>
            <a:r>
              <a:rPr sz="2500" b="1" dirty="0" err="1">
                <a:solidFill>
                  <a:srgbClr val="003F7D"/>
                </a:solidFill>
                <a:latin typeface="Times New Roman"/>
              </a:rPr>
              <a:t>equivalente</a:t>
            </a:r>
            <a:r>
              <a:rPr sz="2500" b="1" dirty="0">
                <a:solidFill>
                  <a:srgbClr val="003F7D"/>
                </a:solidFill>
                <a:latin typeface="Times New Roman"/>
              </a:rPr>
              <a:t> </a:t>
            </a:r>
            <a:r>
              <a:rPr sz="2500" b="1" dirty="0" err="1">
                <a:solidFill>
                  <a:srgbClr val="003F7D"/>
                </a:solidFill>
                <a:latin typeface="Times New Roman"/>
              </a:rPr>
              <a:t>analítico</a:t>
            </a:r>
            <a:endParaRPr sz="2500" b="1" dirty="0">
              <a:solidFill>
                <a:srgbClr val="003F7D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2336" y="1005840"/>
            <a:ext cx="81381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r>
              <a:rPr sz="1200" b="0">
                <a:solidFill>
                  <a:srgbClr val="5F6E7D"/>
                </a:solidFill>
                <a:latin typeface="Arial"/>
              </a:rPr>
              <a:t>Comparación frente al Cv experimental mediante T50, T70 y T90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1280160"/>
            <a:ext cx="3749039" cy="3447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1" y="1273601"/>
            <a:ext cx="713232" cy="283464"/>
          </a:xfrm>
          <a:prstGeom prst="roundRect">
            <a:avLst/>
          </a:prstGeom>
          <a:solidFill>
            <a:srgbClr val="003F7D"/>
          </a:solidFill>
          <a:ln>
            <a:solidFill>
              <a:srgbClr val="003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" y="1247427"/>
            <a:ext cx="713232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Arial"/>
              </a:rPr>
              <a:t>T50</a:t>
            </a:r>
          </a:p>
        </p:txBody>
      </p:sp>
      <p:pic>
        <p:nvPicPr>
          <p:cNvPr id="10" name="Picture 9" descr="Cv_analitico_vs_exp_T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618488"/>
            <a:ext cx="3474721" cy="293522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1" name="Rounded Rectangle 10"/>
          <p:cNvSpPr/>
          <p:nvPr/>
        </p:nvSpPr>
        <p:spPr>
          <a:xfrm>
            <a:off x="4206240" y="1254517"/>
            <a:ext cx="3803904" cy="34610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314508" y="1211580"/>
            <a:ext cx="713232" cy="283464"/>
          </a:xfrm>
          <a:prstGeom prst="roundRect">
            <a:avLst/>
          </a:prstGeom>
          <a:solidFill>
            <a:srgbClr val="003F7D"/>
          </a:solidFill>
          <a:ln>
            <a:solidFill>
              <a:srgbClr val="003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4508" y="1160161"/>
            <a:ext cx="713232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Arial"/>
              </a:rPr>
              <a:t>T70</a:t>
            </a:r>
          </a:p>
        </p:txBody>
      </p:sp>
      <p:pic>
        <p:nvPicPr>
          <p:cNvPr id="14" name="Picture 13" descr="Cv_analitico_vs_exp_T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6824" y="1668780"/>
            <a:ext cx="3392424" cy="28849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5" name="Rounded Rectangle 14"/>
          <p:cNvSpPr/>
          <p:nvPr/>
        </p:nvSpPr>
        <p:spPr>
          <a:xfrm>
            <a:off x="8110728" y="1319982"/>
            <a:ext cx="3986786" cy="33741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9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202168" y="1179576"/>
            <a:ext cx="713232" cy="283464"/>
          </a:xfrm>
          <a:prstGeom prst="roundRect">
            <a:avLst/>
          </a:prstGeom>
          <a:solidFill>
            <a:srgbClr val="003F7D"/>
          </a:solidFill>
          <a:ln>
            <a:solidFill>
              <a:srgbClr val="003F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65592" y="1161288"/>
            <a:ext cx="713232" cy="283464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1050" b="1" i="0" dirty="0">
                <a:solidFill>
                  <a:srgbClr val="FFFFFF"/>
                </a:solidFill>
                <a:latin typeface="Arial"/>
              </a:rPr>
              <a:t>T90</a:t>
            </a:r>
          </a:p>
        </p:txBody>
      </p:sp>
      <p:pic>
        <p:nvPicPr>
          <p:cNvPr id="18" name="Picture 17" descr="Cv_analitico_vs_exp_T9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7890" y="1536192"/>
            <a:ext cx="3657598" cy="300486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9" name="TextBox 18"/>
          <p:cNvSpPr txBox="1"/>
          <p:nvPr/>
        </p:nvSpPr>
        <p:spPr>
          <a:xfrm>
            <a:off x="384048" y="4727448"/>
            <a:ext cx="640080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300" b="1" i="0">
                <a:solidFill>
                  <a:srgbClr val="003F7D"/>
                </a:solidFill>
                <a:latin typeface="Times New Roman"/>
              </a:rPr>
              <a:t>Patrones observados — consistentes en los tres métodos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" y="5010912"/>
            <a:ext cx="2816352" cy="12984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B9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02920" y="5157216"/>
            <a:ext cx="228600" cy="228600"/>
          </a:xfrm>
          <a:prstGeom prst="ellipse">
            <a:avLst/>
          </a:prstGeom>
          <a:solidFill>
            <a:srgbClr val="7C3AED"/>
          </a:solidFill>
          <a:ln w="762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" y="5102352"/>
            <a:ext cx="21945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20" b="1" i="0">
                <a:solidFill>
                  <a:srgbClr val="003F7D"/>
                </a:solidFill>
                <a:latin typeface="Times New Roman"/>
              </a:rPr>
              <a:t>VBP = 0 %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5422392"/>
            <a:ext cx="251460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25" b="0" i="0">
                <a:solidFill>
                  <a:srgbClr val="23374B"/>
                </a:solidFill>
                <a:latin typeface="Arial"/>
              </a:rPr>
              <a:t>Puntos sobre la línea 1:1.
Calibración del caso base confirmada.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5010912"/>
            <a:ext cx="2816352" cy="12984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B9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429000" y="5157216"/>
            <a:ext cx="228600" cy="228600"/>
          </a:xfrm>
          <a:prstGeom prst="rect">
            <a:avLst/>
          </a:prstGeom>
          <a:solidFill>
            <a:srgbClr val="2368DC"/>
          </a:solidFill>
          <a:ln w="762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30752" y="5102352"/>
            <a:ext cx="21945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20" b="1" i="0">
                <a:solidFill>
                  <a:srgbClr val="003F7D"/>
                </a:solidFill>
                <a:latin typeface="Times New Roman"/>
              </a:rPr>
              <a:t>VBP = 10 %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38144" y="5422392"/>
            <a:ext cx="251460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25" b="0" i="0">
                <a:solidFill>
                  <a:srgbClr val="23374B"/>
                </a:solidFill>
                <a:latin typeface="Arial"/>
              </a:rPr>
              <a:t>Puntos próximos a 1:1, con leve subestimación.
El factor geométrico captura bien el efecto inicial del VBP.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5010912"/>
            <a:ext cx="2816352" cy="12984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B9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Isosceles Triangle 28"/>
          <p:cNvSpPr/>
          <p:nvPr/>
        </p:nvSpPr>
        <p:spPr>
          <a:xfrm>
            <a:off x="6355080" y="5157216"/>
            <a:ext cx="228600" cy="228600"/>
          </a:xfrm>
          <a:prstGeom prst="triangle">
            <a:avLst/>
          </a:prstGeom>
          <a:solidFill>
            <a:srgbClr val="1CA55B"/>
          </a:solidFill>
          <a:ln w="762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56832" y="5102352"/>
            <a:ext cx="21945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20" b="1" i="0">
                <a:solidFill>
                  <a:srgbClr val="003F7D"/>
                </a:solidFill>
                <a:latin typeface="Times New Roman"/>
              </a:rPr>
              <a:t>VBP = 20 %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64224" y="5422392"/>
            <a:ext cx="251460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925" b="0" i="0">
                <a:solidFill>
                  <a:srgbClr val="23374B"/>
                </a:solidFill>
                <a:latin typeface="Arial"/>
              </a:rPr>
              <a:t>Subestimación más sistemática.
El alejamiento respecto a 1:1 aumenta con mayor regularidad.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0" y="5010912"/>
            <a:ext cx="2816352" cy="1298448"/>
          </a:xfrm>
          <a:prstGeom prst="roundRect">
            <a:avLst/>
          </a:prstGeom>
          <a:solidFill>
            <a:srgbClr val="F6F9FC"/>
          </a:solidFill>
          <a:ln w="12700">
            <a:solidFill>
              <a:srgbClr val="B9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Diamond 32"/>
          <p:cNvSpPr/>
          <p:nvPr/>
        </p:nvSpPr>
        <p:spPr>
          <a:xfrm>
            <a:off x="9281160" y="5157216"/>
            <a:ext cx="228600" cy="228600"/>
          </a:xfrm>
          <a:prstGeom prst="diamond">
            <a:avLst/>
          </a:prstGeom>
          <a:solidFill>
            <a:srgbClr val="E2342F"/>
          </a:solidFill>
          <a:ln w="7620">
            <a:solidFill>
              <a:srgbClr val="1919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582912" y="5102352"/>
            <a:ext cx="2194560" cy="274320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/>
            <a:r>
              <a:rPr sz="1120" b="1" i="0">
                <a:solidFill>
                  <a:srgbClr val="003F7D"/>
                </a:solidFill>
                <a:latin typeface="Times New Roman"/>
              </a:rPr>
              <a:t>VBP = 30 %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0304" y="5422392"/>
            <a:ext cx="2514600" cy="624786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sz="925" b="0" i="0" dirty="0">
                <a:solidFill>
                  <a:srgbClr val="23374B"/>
                </a:solidFill>
                <a:latin typeface="Arial"/>
              </a:rPr>
              <a:t>Mayor </a:t>
            </a:r>
            <a:r>
              <a:rPr sz="925" b="0" i="0" dirty="0" err="1">
                <a:solidFill>
                  <a:srgbClr val="23374B"/>
                </a:solidFill>
                <a:latin typeface="Arial"/>
              </a:rPr>
              <a:t>dispersión</a:t>
            </a:r>
            <a:r>
              <a:rPr sz="925" b="0" i="0" dirty="0">
                <a:solidFill>
                  <a:srgbClr val="23374B"/>
                </a:solidFill>
                <a:latin typeface="Arial"/>
              </a:rPr>
              <a:t>; </a:t>
            </a:r>
            <a:r>
              <a:rPr sz="925" b="0" i="0" dirty="0" err="1">
                <a:solidFill>
                  <a:srgbClr val="23374B"/>
                </a:solidFill>
                <a:latin typeface="Arial"/>
              </a:rPr>
              <a:t>algunos</a:t>
            </a:r>
            <a:r>
              <a:rPr sz="925" b="0" i="0" dirty="0">
                <a:solidFill>
                  <a:srgbClr val="23374B"/>
                </a:solidFill>
                <a:latin typeface="Arial"/>
              </a:rPr>
              <a:t> puntos </a:t>
            </a:r>
            <a:r>
              <a:rPr sz="925" b="0" i="0" dirty="0" err="1">
                <a:solidFill>
                  <a:srgbClr val="23374B"/>
                </a:solidFill>
                <a:latin typeface="Arial"/>
              </a:rPr>
              <a:t>superan</a:t>
            </a:r>
            <a:r>
              <a:rPr sz="925" b="0" i="0" dirty="0">
                <a:solidFill>
                  <a:srgbClr val="23374B"/>
                </a:solidFill>
                <a:latin typeface="Arial"/>
              </a:rPr>
              <a:t> 1:1 a </a:t>
            </a:r>
            <a:r>
              <a:rPr sz="925" b="0" i="0" dirty="0" err="1">
                <a:solidFill>
                  <a:srgbClr val="23374B"/>
                </a:solidFill>
                <a:latin typeface="Arial"/>
              </a:rPr>
              <a:t>Cv</a:t>
            </a:r>
            <a:r>
              <a:rPr sz="925" b="0" i="0" dirty="0">
                <a:solidFill>
                  <a:srgbClr val="23374B"/>
                </a:solidFill>
                <a:latin typeface="Arial"/>
              </a:rPr>
              <a:t> altos.
</a:t>
            </a:r>
            <a:r>
              <a:rPr sz="925" b="0" i="0" dirty="0" err="1">
                <a:solidFill>
                  <a:srgbClr val="23374B"/>
                </a:solidFill>
                <a:latin typeface="Arial"/>
              </a:rPr>
              <a:t>Posible</a:t>
            </a:r>
            <a:r>
              <a:rPr sz="925" b="0" i="0" dirty="0">
                <a:solidFill>
                  <a:srgbClr val="23374B"/>
                </a:solidFill>
                <a:latin typeface="Arial"/>
              </a:rPr>
              <a:t> </a:t>
            </a:r>
            <a:r>
              <a:rPr sz="925" b="0" i="0" dirty="0" err="1">
                <a:solidFill>
                  <a:srgbClr val="23374B"/>
                </a:solidFill>
                <a:latin typeface="Arial"/>
              </a:rPr>
              <a:t>inicio</a:t>
            </a:r>
            <a:r>
              <a:rPr sz="925" b="0" i="0" dirty="0">
                <a:solidFill>
                  <a:srgbClr val="23374B"/>
                </a:solidFill>
                <a:latin typeface="Arial"/>
              </a:rPr>
              <a:t> de </a:t>
            </a:r>
            <a:r>
              <a:rPr sz="925" b="0" i="0" dirty="0" err="1">
                <a:solidFill>
                  <a:srgbClr val="23374B"/>
                </a:solidFill>
                <a:latin typeface="Arial"/>
              </a:rPr>
              <a:t>una</a:t>
            </a:r>
            <a:r>
              <a:rPr sz="925" b="0" i="0" dirty="0">
                <a:solidFill>
                  <a:srgbClr val="23374B"/>
                </a:solidFill>
                <a:latin typeface="Arial"/>
              </a:rPr>
              <a:t> red de </a:t>
            </a:r>
            <a:r>
              <a:rPr sz="925" b="0" i="0" dirty="0" err="1">
                <a:solidFill>
                  <a:srgbClr val="23374B"/>
                </a:solidFill>
                <a:latin typeface="Arial"/>
              </a:rPr>
              <a:t>contacto</a:t>
            </a:r>
            <a:r>
              <a:rPr sz="925" b="0" i="0" dirty="0">
                <a:solidFill>
                  <a:srgbClr val="23374B"/>
                </a:solidFill>
                <a:latin typeface="Arial"/>
              </a:rPr>
              <a:t> entre </a:t>
            </a:r>
            <a:r>
              <a:rPr sz="925" b="0" i="0" dirty="0" err="1">
                <a:solidFill>
                  <a:srgbClr val="23374B"/>
                </a:solidFill>
                <a:latin typeface="Arial"/>
              </a:rPr>
              <a:t>bloques</a:t>
            </a:r>
            <a:r>
              <a:rPr sz="925" b="0" i="0" dirty="0">
                <a:solidFill>
                  <a:srgbClr val="23374B"/>
                </a:solidFill>
                <a:latin typeface="Arial"/>
              </a:rPr>
              <a:t>*.</a:t>
            </a:r>
            <a:r>
              <a:rPr lang="es-CO" sz="800" i="1" dirty="0">
                <a:solidFill>
                  <a:srgbClr val="5F6E7D"/>
                </a:solidFill>
                <a:latin typeface="Arial"/>
              </a:rPr>
              <a:t> </a:t>
            </a:r>
            <a:r>
              <a:rPr lang="es-CO" sz="925" dirty="0">
                <a:solidFill>
                  <a:srgbClr val="23374B"/>
                </a:solidFill>
                <a:latin typeface="Arial"/>
              </a:rPr>
              <a:t>(Duan et al., 2020)</a:t>
            </a:r>
            <a:endParaRPr sz="925" dirty="0">
              <a:solidFill>
                <a:srgbClr val="23374B"/>
              </a:solidFill>
              <a:latin typeface="Arial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365760" y="6373368"/>
            <a:ext cx="11475720" cy="274320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B9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66928" y="6405884"/>
            <a:ext cx="11064240" cy="209288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ctr"/>
            <a:r>
              <a:rPr sz="950" b="1" i="0" dirty="0">
                <a:solidFill>
                  <a:srgbClr val="003F7D"/>
                </a:solidFill>
                <a:latin typeface="Times New Roman"/>
              </a:rPr>
              <a:t>Lectura global: la </a:t>
            </a:r>
            <a:r>
              <a:rPr sz="950" b="1" i="0" dirty="0" err="1">
                <a:solidFill>
                  <a:srgbClr val="003F7D"/>
                </a:solidFill>
                <a:latin typeface="Times New Roman"/>
              </a:rPr>
              <a:t>formulación</a:t>
            </a:r>
            <a:r>
              <a:rPr sz="950" b="1" i="0" dirty="0">
                <a:solidFill>
                  <a:srgbClr val="003F7D"/>
                </a:solidFill>
                <a:latin typeface="Times New Roman"/>
              </a:rPr>
              <a:t> reproduce </a:t>
            </a:r>
            <a:r>
              <a:rPr sz="950" b="1" i="0" dirty="0" err="1">
                <a:solidFill>
                  <a:srgbClr val="003F7D"/>
                </a:solidFill>
                <a:latin typeface="Times New Roman"/>
              </a:rPr>
              <a:t>adecuadamente</a:t>
            </a:r>
            <a:r>
              <a:rPr sz="950" b="1" i="0" dirty="0">
                <a:solidFill>
                  <a:srgbClr val="003F7D"/>
                </a:solidFill>
                <a:latin typeface="Times New Roman"/>
              </a:rPr>
              <a:t> el </a:t>
            </a:r>
            <a:r>
              <a:rPr sz="950" b="1" i="0" dirty="0" err="1">
                <a:solidFill>
                  <a:srgbClr val="003F7D"/>
                </a:solidFill>
                <a:latin typeface="Times New Roman"/>
              </a:rPr>
              <a:t>caso</a:t>
            </a:r>
            <a:r>
              <a:rPr sz="950" b="1" i="0" dirty="0">
                <a:solidFill>
                  <a:srgbClr val="003F7D"/>
                </a:solidFill>
                <a:latin typeface="Times New Roman"/>
              </a:rPr>
              <a:t> base y VBP </a:t>
            </a:r>
            <a:r>
              <a:rPr sz="950" b="1" i="0" dirty="0" err="1">
                <a:solidFill>
                  <a:srgbClr val="003F7D"/>
                </a:solidFill>
                <a:latin typeface="Times New Roman"/>
              </a:rPr>
              <a:t>bajos</a:t>
            </a:r>
            <a:r>
              <a:rPr sz="950" b="1" i="0" dirty="0">
                <a:solidFill>
                  <a:srgbClr val="003F7D"/>
                </a:solidFill>
                <a:latin typeface="Times New Roman"/>
              </a:rPr>
              <a:t>; al </a:t>
            </a:r>
            <a:r>
              <a:rPr sz="950" b="1" i="0" dirty="0" err="1">
                <a:solidFill>
                  <a:srgbClr val="003F7D"/>
                </a:solidFill>
                <a:latin typeface="Times New Roman"/>
              </a:rPr>
              <a:t>aumentar</a:t>
            </a:r>
            <a:r>
              <a:rPr sz="950" b="1" i="0" dirty="0">
                <a:solidFill>
                  <a:srgbClr val="003F7D"/>
                </a:solidFill>
                <a:latin typeface="Times New Roman"/>
              </a:rPr>
              <a:t> VBP </a:t>
            </a:r>
            <a:r>
              <a:rPr sz="950" b="1" i="0" dirty="0" err="1">
                <a:solidFill>
                  <a:srgbClr val="003F7D"/>
                </a:solidFill>
                <a:latin typeface="Times New Roman"/>
              </a:rPr>
              <a:t>crecen</a:t>
            </a:r>
            <a:r>
              <a:rPr sz="950" b="1" i="0" dirty="0">
                <a:solidFill>
                  <a:srgbClr val="003F7D"/>
                </a:solidFill>
                <a:latin typeface="Times New Roman"/>
              </a:rPr>
              <a:t> la </a:t>
            </a:r>
            <a:r>
              <a:rPr sz="950" b="1" i="0" dirty="0" err="1">
                <a:solidFill>
                  <a:srgbClr val="003F7D"/>
                </a:solidFill>
                <a:latin typeface="Times New Roman"/>
              </a:rPr>
              <a:t>subestimación</a:t>
            </a:r>
            <a:r>
              <a:rPr sz="950" b="1" i="0" dirty="0">
                <a:solidFill>
                  <a:srgbClr val="003F7D"/>
                </a:solidFill>
                <a:latin typeface="Times New Roman"/>
              </a:rPr>
              <a:t> y la </a:t>
            </a:r>
            <a:r>
              <a:rPr sz="950" b="1" i="0" dirty="0" err="1">
                <a:solidFill>
                  <a:srgbClr val="003F7D"/>
                </a:solidFill>
                <a:latin typeface="Times New Roman"/>
              </a:rPr>
              <a:t>dispersión</a:t>
            </a:r>
            <a:r>
              <a:rPr sz="950" b="1" i="0" dirty="0">
                <a:solidFill>
                  <a:srgbClr val="003F7D"/>
                </a:solidFill>
                <a:latin typeface="Times New Roman"/>
              </a:rPr>
              <a:t> del </a:t>
            </a:r>
            <a:r>
              <a:rPr sz="950" b="1" i="0" dirty="0" err="1">
                <a:solidFill>
                  <a:srgbClr val="003F7D"/>
                </a:solidFill>
                <a:latin typeface="Times New Roman"/>
              </a:rPr>
              <a:t>Cv</a:t>
            </a:r>
            <a:r>
              <a:rPr lang="es-MX" sz="950" b="1" i="0" dirty="0">
                <a:solidFill>
                  <a:srgbClr val="003F7D"/>
                </a:solidFill>
                <a:latin typeface="Times New Roman"/>
              </a:rPr>
              <a:t> </a:t>
            </a:r>
            <a:r>
              <a:rPr lang="es-CO" sz="1000" b="1" dirty="0">
                <a:solidFill>
                  <a:srgbClr val="003F7D"/>
                </a:solidFill>
                <a:latin typeface="Times New Roman"/>
              </a:rPr>
              <a:t>analítico</a:t>
            </a:r>
            <a:r>
              <a:rPr sz="950" b="1" i="0" dirty="0">
                <a:solidFill>
                  <a:srgbClr val="003F7D"/>
                </a:solidFill>
                <a:latin typeface="Times New Roman"/>
              </a:rPr>
              <a:t> </a:t>
            </a:r>
            <a:r>
              <a:rPr sz="950" b="1" i="0" dirty="0" err="1">
                <a:solidFill>
                  <a:srgbClr val="003F7D"/>
                </a:solidFill>
                <a:latin typeface="Times New Roman"/>
              </a:rPr>
              <a:t>equivalente</a:t>
            </a:r>
            <a:r>
              <a:rPr sz="950" b="1" i="0" dirty="0">
                <a:solidFill>
                  <a:srgbClr val="003F7D"/>
                </a:solidFill>
                <a:latin typeface="Times New Roman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6675120"/>
            <a:ext cx="11201400" cy="146304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/>
            <a:r>
              <a:rPr sz="650" b="0" i="1" dirty="0">
                <a:solidFill>
                  <a:srgbClr val="5F6E7D"/>
                </a:solidFill>
                <a:latin typeface="Arial"/>
              </a:rPr>
              <a:t>Fuente: </a:t>
            </a:r>
            <a:r>
              <a:rPr sz="650" b="0" i="1" dirty="0" err="1">
                <a:solidFill>
                  <a:srgbClr val="5F6E7D"/>
                </a:solidFill>
                <a:latin typeface="Arial"/>
              </a:rPr>
              <a:t>elaboración</a:t>
            </a:r>
            <a:r>
              <a:rPr sz="650" b="0" i="1" dirty="0">
                <a:solidFill>
                  <a:srgbClr val="5F6E7D"/>
                </a:solidFill>
                <a:latin typeface="Arial"/>
              </a:rPr>
              <a:t> </a:t>
            </a:r>
            <a:r>
              <a:rPr sz="650" b="0" i="1" dirty="0" err="1">
                <a:solidFill>
                  <a:srgbClr val="5F6E7D"/>
                </a:solidFill>
                <a:latin typeface="Arial"/>
              </a:rPr>
              <a:t>propia</a:t>
            </a:r>
            <a:r>
              <a:rPr sz="650" b="0" i="1" dirty="0">
                <a:solidFill>
                  <a:srgbClr val="5F6E7D"/>
                </a:solidFill>
                <a:latin typeface="Arial"/>
              </a:rPr>
              <a:t>. </a:t>
            </a:r>
            <a:r>
              <a:rPr sz="650" b="0" i="1" dirty="0" err="1">
                <a:solidFill>
                  <a:srgbClr val="5F6E7D"/>
                </a:solidFill>
                <a:latin typeface="Arial"/>
              </a:rPr>
              <a:t>Resultados</a:t>
            </a:r>
            <a:r>
              <a:rPr sz="650" b="0" i="1" dirty="0">
                <a:solidFill>
                  <a:srgbClr val="5F6E7D"/>
                </a:solidFill>
                <a:latin typeface="Arial"/>
              </a:rPr>
              <a:t> </a:t>
            </a:r>
            <a:r>
              <a:rPr sz="650" b="0" i="1" dirty="0" err="1">
                <a:solidFill>
                  <a:srgbClr val="5F6E7D"/>
                </a:solidFill>
                <a:latin typeface="Arial"/>
              </a:rPr>
              <a:t>experimentales</a:t>
            </a:r>
            <a:r>
              <a:rPr sz="650" b="0" i="1" dirty="0">
                <a:solidFill>
                  <a:srgbClr val="5F6E7D"/>
                </a:solidFill>
                <a:latin typeface="Arial"/>
              </a:rPr>
              <a:t> </a:t>
            </a:r>
            <a:r>
              <a:rPr sz="650" b="0" i="1" dirty="0" err="1">
                <a:solidFill>
                  <a:srgbClr val="5F6E7D"/>
                </a:solidFill>
                <a:latin typeface="Arial"/>
              </a:rPr>
              <a:t>proporcionados</a:t>
            </a:r>
            <a:r>
              <a:rPr sz="650" b="0" i="1" dirty="0">
                <a:solidFill>
                  <a:srgbClr val="5F6E7D"/>
                </a:solidFill>
                <a:latin typeface="Arial"/>
              </a:rPr>
              <a:t> </a:t>
            </a:r>
            <a:r>
              <a:rPr sz="650" b="0" i="1" dirty="0" err="1">
                <a:solidFill>
                  <a:srgbClr val="5F6E7D"/>
                </a:solidFill>
                <a:latin typeface="Arial"/>
              </a:rPr>
              <a:t>por</a:t>
            </a:r>
            <a:r>
              <a:rPr sz="650" b="0" i="1" dirty="0">
                <a:solidFill>
                  <a:srgbClr val="5F6E7D"/>
                </a:solidFill>
                <a:latin typeface="Arial"/>
              </a:rPr>
              <a:t> el Ing. Andrés H. Clavijo R.  |  *</a:t>
            </a:r>
            <a:r>
              <a:rPr sz="650" b="0" i="1" dirty="0" err="1">
                <a:solidFill>
                  <a:srgbClr val="5F6E7D"/>
                </a:solidFill>
                <a:latin typeface="Arial"/>
              </a:rPr>
              <a:t>Interpretación</a:t>
            </a:r>
            <a:r>
              <a:rPr sz="650" b="0" i="1" dirty="0">
                <a:solidFill>
                  <a:srgbClr val="5F6E7D"/>
                </a:solidFill>
                <a:latin typeface="Arial"/>
              </a:rPr>
              <a:t> </a:t>
            </a:r>
            <a:r>
              <a:rPr sz="650" b="0" i="1" dirty="0" err="1">
                <a:solidFill>
                  <a:srgbClr val="5F6E7D"/>
                </a:solidFill>
                <a:latin typeface="Arial"/>
              </a:rPr>
              <a:t>física</a:t>
            </a:r>
            <a:r>
              <a:rPr sz="650" b="0" i="1" dirty="0">
                <a:solidFill>
                  <a:srgbClr val="5F6E7D"/>
                </a:solidFill>
                <a:latin typeface="Arial"/>
              </a:rPr>
              <a:t> para VBP = 30 %: </a:t>
            </a:r>
            <a:r>
              <a:rPr sz="650" b="0" i="1" dirty="0" err="1">
                <a:solidFill>
                  <a:srgbClr val="5F6E7D"/>
                </a:solidFill>
                <a:latin typeface="Arial"/>
              </a:rPr>
              <a:t>posible</a:t>
            </a:r>
            <a:r>
              <a:rPr sz="650" b="0" i="1" dirty="0">
                <a:solidFill>
                  <a:srgbClr val="5F6E7D"/>
                </a:solidFill>
                <a:latin typeface="Arial"/>
              </a:rPr>
              <a:t> </a:t>
            </a:r>
            <a:r>
              <a:rPr sz="650" b="0" i="1" dirty="0" err="1">
                <a:solidFill>
                  <a:srgbClr val="5F6E7D"/>
                </a:solidFill>
                <a:latin typeface="Arial"/>
              </a:rPr>
              <a:t>formación</a:t>
            </a:r>
            <a:r>
              <a:rPr sz="650" b="0" i="1" dirty="0">
                <a:solidFill>
                  <a:srgbClr val="5F6E7D"/>
                </a:solidFill>
                <a:latin typeface="Arial"/>
              </a:rPr>
              <a:t> de red de </a:t>
            </a:r>
            <a:r>
              <a:rPr sz="650" b="0" i="1" dirty="0" err="1">
                <a:solidFill>
                  <a:srgbClr val="5F6E7D"/>
                </a:solidFill>
                <a:latin typeface="Arial"/>
              </a:rPr>
              <a:t>contacto</a:t>
            </a:r>
            <a:r>
              <a:rPr sz="650" b="0" i="1" dirty="0">
                <a:solidFill>
                  <a:srgbClr val="5F6E7D"/>
                </a:solidFill>
                <a:latin typeface="Arial"/>
              </a:rPr>
              <a:t> entre </a:t>
            </a:r>
            <a:r>
              <a:rPr sz="650" b="0" i="1" dirty="0" err="1">
                <a:solidFill>
                  <a:srgbClr val="5F6E7D"/>
                </a:solidFill>
                <a:latin typeface="Arial"/>
              </a:rPr>
              <a:t>bloques</a:t>
            </a:r>
            <a:r>
              <a:rPr sz="650" b="0" i="1" dirty="0">
                <a:solidFill>
                  <a:srgbClr val="5F6E7D"/>
                </a:solidFill>
                <a:latin typeface="Arial"/>
              </a:rPr>
              <a:t> (Duan et al., 2020).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757bbef-ee38-4b69-a41d-90aa6c2486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91440"/>
            <a:ext cx="59436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88920" y="448056"/>
            <a:ext cx="9125712" cy="13716"/>
          </a:xfrm>
          <a:prstGeom prst="rect">
            <a:avLst/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38360" y="251972"/>
            <a:ext cx="2057400" cy="2092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880" b="0" i="0" dirty="0">
                <a:solidFill>
                  <a:srgbClr val="003F7D"/>
                </a:solidFill>
                <a:latin typeface="Arial"/>
              </a:rPr>
              <a:t>TRABAJO DE GRADO</a:t>
            </a:r>
            <a:r>
              <a:rPr lang="es-MX" sz="880" b="0" i="0" dirty="0">
                <a:solidFill>
                  <a:srgbClr val="003F7D"/>
                </a:solidFill>
                <a:latin typeface="Arial"/>
              </a:rPr>
              <a:t> II</a:t>
            </a:r>
            <a:endParaRPr sz="880" b="0" i="0" dirty="0">
              <a:solidFill>
                <a:srgbClr val="003F7D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20624" y="738297"/>
            <a:ext cx="11155680" cy="48936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lang="es-MX" sz="2700" b="1" i="0" dirty="0">
                <a:solidFill>
                  <a:srgbClr val="003F7D"/>
                </a:solidFill>
                <a:latin typeface="Times New Roman"/>
              </a:rPr>
              <a:t>Objetivo 3: </a:t>
            </a:r>
            <a:r>
              <a:rPr sz="2700" b="1" i="0" dirty="0">
                <a:solidFill>
                  <a:srgbClr val="003F7D"/>
                </a:solidFill>
                <a:latin typeface="Times New Roman"/>
              </a:rPr>
              <a:t>Del </a:t>
            </a:r>
            <a:r>
              <a:rPr sz="2700" b="1" i="0" dirty="0" err="1">
                <a:solidFill>
                  <a:srgbClr val="003F7D"/>
                </a:solidFill>
                <a:latin typeface="Times New Roman"/>
              </a:rPr>
              <a:t>ensayo</a:t>
            </a:r>
            <a:r>
              <a:rPr sz="2700" b="1" i="0" dirty="0">
                <a:solidFill>
                  <a:srgbClr val="003F7D"/>
                </a:solidFill>
                <a:latin typeface="Times New Roman"/>
              </a:rPr>
              <a:t> </a:t>
            </a:r>
            <a:r>
              <a:rPr sz="2700" b="1" i="0" dirty="0" err="1">
                <a:solidFill>
                  <a:srgbClr val="003F7D"/>
                </a:solidFill>
                <a:latin typeface="Times New Roman"/>
              </a:rPr>
              <a:t>edométrico</a:t>
            </a:r>
            <a:r>
              <a:rPr sz="2700" b="1" i="0" dirty="0">
                <a:solidFill>
                  <a:srgbClr val="003F7D"/>
                </a:solidFill>
                <a:latin typeface="Times New Roman"/>
              </a:rPr>
              <a:t> al </a:t>
            </a:r>
            <a:r>
              <a:rPr sz="2700" b="1" i="0" dirty="0" err="1">
                <a:solidFill>
                  <a:srgbClr val="003F7D"/>
                </a:solidFill>
                <a:latin typeface="Times New Roman"/>
              </a:rPr>
              <a:t>modelo</a:t>
            </a:r>
            <a:r>
              <a:rPr sz="2700" b="1" i="0" dirty="0">
                <a:solidFill>
                  <a:srgbClr val="003F7D"/>
                </a:solidFill>
                <a:latin typeface="Times New Roman"/>
              </a:rPr>
              <a:t> </a:t>
            </a:r>
            <a:r>
              <a:rPr sz="2700" b="1" i="0" dirty="0" err="1">
                <a:solidFill>
                  <a:srgbClr val="003F7D"/>
                </a:solidFill>
                <a:latin typeface="Times New Roman"/>
              </a:rPr>
              <a:t>numérico</a:t>
            </a:r>
            <a:endParaRPr sz="2700" b="1" i="0" dirty="0">
              <a:solidFill>
                <a:srgbClr val="003F7D"/>
              </a:solidFill>
              <a:latin typeface="Times New Roman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01752" y="1417320"/>
            <a:ext cx="331927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0624" y="1545336"/>
            <a:ext cx="3081528" cy="347472"/>
          </a:xfrm>
          <a:prstGeom prst="roundRect">
            <a:avLst/>
          </a:prstGeom>
          <a:solidFill>
            <a:srgbClr val="005CAA"/>
          </a:solidFill>
          <a:ln>
            <a:solidFill>
              <a:srgbClr val="0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0352" y="1577495"/>
            <a:ext cx="2862072" cy="2831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lang="es-MX" sz="1360" b="1" dirty="0">
                <a:solidFill>
                  <a:srgbClr val="FFFFFF"/>
                </a:solidFill>
                <a:latin typeface="Times New Roman"/>
              </a:rPr>
              <a:t>Muestras</a:t>
            </a:r>
            <a:r>
              <a:rPr sz="1360" b="1" i="0" dirty="0">
                <a:solidFill>
                  <a:srgbClr val="FFFFFF"/>
                </a:solidFill>
                <a:latin typeface="Times New Roman"/>
              </a:rPr>
              <a:t> experimental</a:t>
            </a:r>
            <a:r>
              <a:rPr lang="es-MX" sz="1360" b="1" i="0" dirty="0">
                <a:solidFill>
                  <a:srgbClr val="FFFFFF"/>
                </a:solidFill>
                <a:latin typeface="Times New Roman"/>
              </a:rPr>
              <a:t>es</a:t>
            </a:r>
            <a:endParaRPr sz="1360" b="1" i="0" dirty="0">
              <a:solidFill>
                <a:srgbClr val="FFFFFF"/>
              </a:solidFill>
              <a:latin typeface="Times New Roman"/>
            </a:endParaRPr>
          </a:p>
        </p:txBody>
      </p:sp>
      <p:pic>
        <p:nvPicPr>
          <p:cNvPr id="9" name="Picture 8" descr="80e7ad9c-3ec4-422c-93ab-0027ea33afa8.png"/>
          <p:cNvPicPr>
            <a:picLocks noChangeAspect="1"/>
          </p:cNvPicPr>
          <p:nvPr/>
        </p:nvPicPr>
        <p:blipFill>
          <a:blip r:embed="rId3"/>
          <a:srcRect t="16543" b="16543"/>
          <a:stretch>
            <a:fillRect/>
          </a:stretch>
        </p:blipFill>
        <p:spPr>
          <a:xfrm>
            <a:off x="502920" y="2011680"/>
            <a:ext cx="2880360" cy="14447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TextBox 9"/>
          <p:cNvSpPr txBox="1"/>
          <p:nvPr/>
        </p:nvSpPr>
        <p:spPr>
          <a:xfrm>
            <a:off x="502920" y="3465576"/>
            <a:ext cx="288036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40" b="1" i="0">
                <a:solidFill>
                  <a:srgbClr val="003F7D"/>
                </a:solidFill>
                <a:latin typeface="Times New Roman"/>
              </a:rPr>
              <a:t>Muestra experimental con bloques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288036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1">
                <a:solidFill>
                  <a:srgbClr val="5E6C7A"/>
                </a:solidFill>
                <a:latin typeface="Arial"/>
              </a:rPr>
              <a:t>Fuente: Clavijo R., A. H. (2022). Bimsoils Compression–Consolidation Behavior.</a:t>
            </a:r>
          </a:p>
        </p:txBody>
      </p:sp>
      <p:pic>
        <p:nvPicPr>
          <p:cNvPr id="12" name="Picture 11" descr="7113636b-5254-48c6-ad93-a5ee0c791ee3.png"/>
          <p:cNvPicPr>
            <a:picLocks noChangeAspect="1"/>
          </p:cNvPicPr>
          <p:nvPr/>
        </p:nvPicPr>
        <p:blipFill>
          <a:blip r:embed="rId4"/>
          <a:srcRect t="21018" b="21018"/>
          <a:stretch>
            <a:fillRect/>
          </a:stretch>
        </p:blipFill>
        <p:spPr>
          <a:xfrm>
            <a:off x="502920" y="4005072"/>
            <a:ext cx="2880360" cy="12618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3" name="TextBox 12"/>
          <p:cNvSpPr txBox="1"/>
          <p:nvPr/>
        </p:nvSpPr>
        <p:spPr>
          <a:xfrm>
            <a:off x="502920" y="5276088"/>
            <a:ext cx="288036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40" b="1" i="0">
                <a:solidFill>
                  <a:srgbClr val="003F7D"/>
                </a:solidFill>
                <a:latin typeface="Times New Roman"/>
              </a:rPr>
              <a:t>Montaje del ensayo edométrico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513832"/>
            <a:ext cx="2880360" cy="2651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1">
                <a:solidFill>
                  <a:srgbClr val="5E6C7A"/>
                </a:solidFill>
                <a:latin typeface="Arial"/>
              </a:rPr>
              <a:t>Fuente: Clavijo R., A. H. (2022). Bimsoils Compression–Consolidation Behavior.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30752" y="3520440"/>
            <a:ext cx="384048" cy="320040"/>
          </a:xfrm>
          <a:prstGeom prst="rightArrow">
            <a:avLst/>
          </a:prstGeom>
          <a:solidFill>
            <a:srgbClr val="005CAA"/>
          </a:solidFill>
          <a:ln>
            <a:solidFill>
              <a:srgbClr val="0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114800" y="1417320"/>
            <a:ext cx="2889504" cy="4709160"/>
          </a:xfrm>
          <a:prstGeom prst="roundRect">
            <a:avLst/>
          </a:prstGeom>
          <a:solidFill>
            <a:srgbClr val="F5F9FD"/>
          </a:solidFill>
          <a:ln w="12700">
            <a:solidFill>
              <a:srgbClr val="B4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4279392" y="1645920"/>
            <a:ext cx="2560320" cy="438912"/>
          </a:xfrm>
          <a:prstGeom prst="roundRect">
            <a:avLst/>
          </a:prstGeom>
          <a:solidFill>
            <a:srgbClr val="005CAA"/>
          </a:solidFill>
          <a:ln>
            <a:solidFill>
              <a:srgbClr val="0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0" y="1664208"/>
            <a:ext cx="2340863" cy="40233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Times New Roman"/>
              </a:rPr>
              <a:t>Idealización 3D → 2D</a:t>
            </a:r>
          </a:p>
        </p:txBody>
      </p:sp>
      <p:sp>
        <p:nvSpPr>
          <p:cNvPr id="19" name="Oval 18"/>
          <p:cNvSpPr/>
          <p:nvPr/>
        </p:nvSpPr>
        <p:spPr>
          <a:xfrm>
            <a:off x="4407408" y="2423160"/>
            <a:ext cx="493776" cy="493776"/>
          </a:xfrm>
          <a:prstGeom prst="ellipse">
            <a:avLst/>
          </a:prstGeom>
          <a:solidFill>
            <a:srgbClr val="E8F2FA"/>
          </a:solidFill>
          <a:ln>
            <a:solidFill>
              <a:srgbClr val="B4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07408" y="2423160"/>
            <a:ext cx="493776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 dirty="0">
                <a:solidFill>
                  <a:srgbClr val="003F7D"/>
                </a:solidFill>
                <a:latin typeface="Arial"/>
              </a:rPr>
              <a:t>3D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7488" y="2404872"/>
            <a:ext cx="1664208" cy="60350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50" b="0" i="0" dirty="0" err="1">
                <a:solidFill>
                  <a:srgbClr val="003F7D"/>
                </a:solidFill>
                <a:latin typeface="Times New Roman"/>
              </a:rPr>
              <a:t>Dimensiones</a:t>
            </a:r>
            <a:r>
              <a:rPr sz="1350" b="0" i="0" dirty="0">
                <a:solidFill>
                  <a:srgbClr val="003F7D"/>
                </a:solidFill>
                <a:latin typeface="Times New Roman"/>
              </a:rPr>
              <a:t> </a:t>
            </a:r>
            <a:r>
              <a:rPr sz="1350" b="0" i="0" dirty="0" err="1">
                <a:solidFill>
                  <a:srgbClr val="003F7D"/>
                </a:solidFill>
                <a:latin typeface="Times New Roman"/>
              </a:rPr>
              <a:t>globales</a:t>
            </a:r>
            <a:r>
              <a:rPr sz="1350" b="0" i="0" dirty="0">
                <a:solidFill>
                  <a:srgbClr val="003F7D"/>
                </a:solidFill>
                <a:latin typeface="Times New Roman"/>
              </a:rPr>
              <a:t>
del </a:t>
            </a:r>
            <a:r>
              <a:rPr sz="1350" b="0" i="0" dirty="0" err="1">
                <a:solidFill>
                  <a:srgbClr val="003F7D"/>
                </a:solidFill>
                <a:latin typeface="Times New Roman"/>
              </a:rPr>
              <a:t>espécimen</a:t>
            </a:r>
            <a:endParaRPr sz="1350" b="0" i="0" dirty="0">
              <a:solidFill>
                <a:srgbClr val="003F7D"/>
              </a:solidFill>
              <a:latin typeface="Times New Roman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407408" y="3438144"/>
            <a:ext cx="493776" cy="493776"/>
          </a:xfrm>
          <a:prstGeom prst="ellipse">
            <a:avLst/>
          </a:prstGeom>
          <a:solidFill>
            <a:srgbClr val="E8F2FA"/>
          </a:solidFill>
          <a:ln>
            <a:solidFill>
              <a:srgbClr val="B4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07408" y="3438144"/>
            <a:ext cx="493776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003F7D"/>
                </a:solidFill>
                <a:latin typeface="Arial"/>
              </a:rPr>
              <a:t>VBP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47488" y="3419856"/>
            <a:ext cx="1664208" cy="60350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50" b="0" i="0">
                <a:solidFill>
                  <a:srgbClr val="003F7D"/>
                </a:solidFill>
                <a:latin typeface="Times New Roman"/>
              </a:rPr>
              <a:t>Representación del
contenido de bloques</a:t>
            </a:r>
          </a:p>
        </p:txBody>
      </p:sp>
      <p:sp>
        <p:nvSpPr>
          <p:cNvPr id="25" name="Oval 24"/>
          <p:cNvSpPr/>
          <p:nvPr/>
        </p:nvSpPr>
        <p:spPr>
          <a:xfrm>
            <a:off x="4407408" y="4453128"/>
            <a:ext cx="493776" cy="493776"/>
          </a:xfrm>
          <a:prstGeom prst="ellipse">
            <a:avLst/>
          </a:prstGeom>
          <a:solidFill>
            <a:srgbClr val="E8F2FA"/>
          </a:solidFill>
          <a:ln>
            <a:solidFill>
              <a:srgbClr val="B4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407408" y="4453128"/>
            <a:ext cx="493776" cy="49377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00" b="1" i="0">
                <a:solidFill>
                  <a:srgbClr val="003F7D"/>
                </a:solidFill>
                <a:latin typeface="Arial"/>
              </a:rPr>
              <a:t>2D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47488" y="4434840"/>
            <a:ext cx="1664208" cy="60350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50" b="1" i="0">
                <a:solidFill>
                  <a:srgbClr val="003F7D"/>
                </a:solidFill>
                <a:latin typeface="Times New Roman"/>
              </a:rPr>
              <a:t>Modelo comparativo
controlado en RS2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5349240"/>
            <a:ext cx="2350008" cy="60350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940" b="0" i="0">
                <a:solidFill>
                  <a:srgbClr val="1E3448"/>
                </a:solidFill>
                <a:latin typeface="Arial"/>
              </a:rPr>
              <a:t>Idealización bidimensional en Plane Strain para reproducir las condiciones macroscópicas del ensayo y evaluar de forma controlada el efecto del VBP.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132320" y="3520440"/>
            <a:ext cx="384048" cy="320040"/>
          </a:xfrm>
          <a:prstGeom prst="rightArrow">
            <a:avLst/>
          </a:prstGeom>
          <a:solidFill>
            <a:srgbClr val="005CAA"/>
          </a:solidFill>
          <a:ln>
            <a:solidFill>
              <a:srgbClr val="0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516368" y="1417320"/>
            <a:ext cx="437083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7644383" y="1545336"/>
            <a:ext cx="4114800" cy="347472"/>
          </a:xfrm>
          <a:prstGeom prst="roundRect">
            <a:avLst/>
          </a:prstGeom>
          <a:solidFill>
            <a:srgbClr val="005CAA"/>
          </a:solidFill>
          <a:ln>
            <a:solidFill>
              <a:srgbClr val="0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54111" y="1563624"/>
            <a:ext cx="3895344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60" b="1" i="0">
                <a:solidFill>
                  <a:srgbClr val="FFFFFF"/>
                </a:solidFill>
                <a:latin typeface="Times New Roman"/>
              </a:rPr>
              <a:t>Representación numérica</a:t>
            </a:r>
          </a:p>
        </p:txBody>
      </p:sp>
      <p:pic>
        <p:nvPicPr>
          <p:cNvPr id="33" name="Picture 32" descr="468e8ff2-5024-48f7-bf53-f362d3896d26.png"/>
          <p:cNvPicPr>
            <a:picLocks noChangeAspect="1"/>
          </p:cNvPicPr>
          <p:nvPr/>
        </p:nvPicPr>
        <p:blipFill>
          <a:blip r:embed="rId5"/>
          <a:srcRect l="1400" r="1400"/>
          <a:stretch>
            <a:fillRect/>
          </a:stretch>
        </p:blipFill>
        <p:spPr>
          <a:xfrm>
            <a:off x="7808976" y="1958890"/>
            <a:ext cx="3886200" cy="21787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34" name="TextBox 33"/>
          <p:cNvSpPr txBox="1"/>
          <p:nvPr/>
        </p:nvSpPr>
        <p:spPr>
          <a:xfrm>
            <a:off x="7754112" y="4178808"/>
            <a:ext cx="388620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003F7D"/>
                </a:solidFill>
                <a:latin typeface="Times New Roman"/>
              </a:rPr>
              <a:t>Modelo explícito con bloques en RS2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4112" y="4407408"/>
            <a:ext cx="3886200" cy="256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1" dirty="0">
                <a:solidFill>
                  <a:srgbClr val="5E6C7A"/>
                </a:solidFill>
                <a:latin typeface="Arial"/>
              </a:rPr>
              <a:t>Fuente: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captura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directa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de RS2 de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los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modelos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elaborados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en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esta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investigación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0112" y="4928616"/>
            <a:ext cx="1417320" cy="27432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20" b="1" i="0">
                <a:solidFill>
                  <a:srgbClr val="003F7D"/>
                </a:solidFill>
                <a:latin typeface="Times New Roman"/>
              </a:rPr>
              <a:t>Modelo equivalente (homogéneo)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83154" y="5752126"/>
            <a:ext cx="2236967" cy="2954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just"/>
            <a:r>
              <a:rPr sz="720" b="0" i="1" dirty="0">
                <a:solidFill>
                  <a:srgbClr val="5E6C7A"/>
                </a:solidFill>
                <a:latin typeface="Arial"/>
              </a:rPr>
              <a:t>Fuente: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captura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directa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de RS2 de</a:t>
            </a:r>
            <a:r>
              <a:rPr lang="es-MX"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los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modelos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elaborados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en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esta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investigación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29184" y="6327648"/>
            <a:ext cx="11521440" cy="365760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B4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9536" y="6355080"/>
            <a:ext cx="1083564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70" b="0" i="0">
                <a:solidFill>
                  <a:srgbClr val="003F7D"/>
                </a:solidFill>
                <a:latin typeface="Times New Roman"/>
              </a:rPr>
              <a:t>El ensayo tridimensional se representa mediante una idealización 2D coherente con la geometría global, las condiciones edométricas y la variable de estudio VBP.</a:t>
            </a:r>
          </a:p>
        </p:txBody>
      </p:sp>
      <p:pic>
        <p:nvPicPr>
          <p:cNvPr id="46" name="Imagen 45">
            <a:extLst>
              <a:ext uri="{FF2B5EF4-FFF2-40B4-BE49-F238E27FC236}">
                <a16:creationId xmlns:a16="http://schemas.microsoft.com/office/drawing/2014/main" id="{36AD2F85-8C37-8271-CCFA-6D71148F5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3752" y="4558160"/>
            <a:ext cx="2055762" cy="117539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757bbef-ee38-4b69-a41d-90aa6c2486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" y="91440"/>
            <a:ext cx="594360" cy="59436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88920" y="448056"/>
            <a:ext cx="9125712" cy="13716"/>
          </a:xfrm>
          <a:prstGeom prst="rect">
            <a:avLst/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38360" y="251972"/>
            <a:ext cx="2057400" cy="2092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880" b="0" i="0" dirty="0">
                <a:solidFill>
                  <a:srgbClr val="003F7D"/>
                </a:solidFill>
                <a:latin typeface="Arial"/>
              </a:rPr>
              <a:t>TRABAJO DE GRADO</a:t>
            </a:r>
            <a:r>
              <a:rPr lang="es-MX" sz="880" b="0" i="0" dirty="0">
                <a:solidFill>
                  <a:srgbClr val="003F7D"/>
                </a:solidFill>
                <a:latin typeface="Arial"/>
              </a:rPr>
              <a:t> II</a:t>
            </a:r>
            <a:endParaRPr sz="880" b="0" i="0" dirty="0">
              <a:solidFill>
                <a:srgbClr val="003F7D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84048" y="704088"/>
            <a:ext cx="11155680" cy="5943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700" b="1" i="0">
                <a:solidFill>
                  <a:srgbClr val="003F7D"/>
                </a:solidFill>
                <a:latin typeface="Times New Roman"/>
              </a:rPr>
              <a:t>Configuración del modelo numérico en RS2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0896" y="1417320"/>
            <a:ext cx="4572000" cy="4709160"/>
          </a:xfrm>
          <a:prstGeom prst="roundRect">
            <a:avLst/>
          </a:prstGeom>
          <a:solidFill>
            <a:srgbClr val="F5F9FD"/>
          </a:solidFill>
          <a:ln w="12700">
            <a:solidFill>
              <a:srgbClr val="B4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38912" y="1545336"/>
            <a:ext cx="4315968" cy="374904"/>
          </a:xfrm>
          <a:prstGeom prst="roundRect">
            <a:avLst/>
          </a:prstGeom>
          <a:solidFill>
            <a:srgbClr val="005CAA"/>
          </a:solidFill>
          <a:ln>
            <a:solidFill>
              <a:srgbClr val="0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63624"/>
            <a:ext cx="4096511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Times New Roman"/>
              </a:rPr>
              <a:t>Selección del modelo y discretización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66543"/>
            <a:ext cx="438912" cy="438912"/>
          </a:xfrm>
          <a:prstGeom prst="ellipse">
            <a:avLst/>
          </a:prstGeom>
          <a:solidFill>
            <a:srgbClr val="E8F2FA"/>
          </a:solidFill>
          <a:ln>
            <a:solidFill>
              <a:srgbClr val="B4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066543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003F7D"/>
                </a:solidFill>
                <a:latin typeface="Arial"/>
              </a:rPr>
              <a:t>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039112"/>
            <a:ext cx="347472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20" b="1" i="0">
                <a:solidFill>
                  <a:srgbClr val="003F7D"/>
                </a:solidFill>
                <a:latin typeface="Times New Roman"/>
              </a:rPr>
              <a:t>Matriz: Soft Soil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76856"/>
            <a:ext cx="3493008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69" b="0" i="0">
                <a:solidFill>
                  <a:srgbClr val="1E3448"/>
                </a:solidFill>
                <a:latin typeface="Arial"/>
              </a:rPr>
              <a:t>Permite vincular directamente los datos edométricos disponibles: e, Cc y Cr.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852927"/>
            <a:ext cx="438912" cy="438912"/>
          </a:xfrm>
          <a:prstGeom prst="ellipse">
            <a:avLst/>
          </a:prstGeom>
          <a:solidFill>
            <a:srgbClr val="E8F2FA"/>
          </a:solidFill>
          <a:ln>
            <a:solidFill>
              <a:srgbClr val="B4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852927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003F7D"/>
                </a:solidFill>
                <a:latin typeface="Arial"/>
              </a:rPr>
              <a:t>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825496"/>
            <a:ext cx="347472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20" b="1" i="0">
                <a:solidFill>
                  <a:srgbClr val="003F7D"/>
                </a:solidFill>
                <a:latin typeface="Times New Roman"/>
              </a:rPr>
              <a:t>Acoplamiento hidromecánico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063239"/>
            <a:ext cx="3493008" cy="2230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69" b="0" i="0" dirty="0">
                <a:solidFill>
                  <a:srgbClr val="1E3448"/>
                </a:solidFill>
                <a:latin typeface="Arial"/>
              </a:rPr>
              <a:t>Coupled (</a:t>
            </a:r>
            <a:r>
              <a:rPr sz="969" b="0" i="0" dirty="0" err="1">
                <a:solidFill>
                  <a:srgbClr val="1E3448"/>
                </a:solidFill>
                <a:latin typeface="Arial"/>
              </a:rPr>
              <a:t>Biot</a:t>
            </a:r>
            <a:r>
              <a:rPr sz="969" b="0" i="0" dirty="0">
                <a:solidFill>
                  <a:srgbClr val="1E3448"/>
                </a:solidFill>
                <a:latin typeface="Arial"/>
              </a:rPr>
              <a:t>).</a:t>
            </a:r>
          </a:p>
        </p:txBody>
      </p:sp>
      <p:sp>
        <p:nvSpPr>
          <p:cNvPr id="17" name="Oval 16"/>
          <p:cNvSpPr/>
          <p:nvPr/>
        </p:nvSpPr>
        <p:spPr>
          <a:xfrm>
            <a:off x="548640" y="3639311"/>
            <a:ext cx="438912" cy="438912"/>
          </a:xfrm>
          <a:prstGeom prst="ellipse">
            <a:avLst/>
          </a:prstGeom>
          <a:solidFill>
            <a:srgbClr val="E8F2FA"/>
          </a:solidFill>
          <a:ln>
            <a:solidFill>
              <a:srgbClr val="B4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639311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003F7D"/>
                </a:solidFill>
                <a:latin typeface="Arial"/>
              </a:rPr>
              <a:t>2D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611879"/>
            <a:ext cx="347472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20" b="1" i="0">
                <a:solidFill>
                  <a:srgbClr val="003F7D"/>
                </a:solidFill>
                <a:latin typeface="Times New Roman"/>
              </a:rPr>
              <a:t>Idealización espacial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849624"/>
            <a:ext cx="3493008" cy="2230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lang="es-MX" sz="969" dirty="0">
                <a:solidFill>
                  <a:srgbClr val="1E3448"/>
                </a:solidFill>
                <a:latin typeface="Arial"/>
              </a:rPr>
              <a:t>D</a:t>
            </a:r>
            <a:r>
              <a:rPr sz="969" b="0" i="0" dirty="0" err="1">
                <a:solidFill>
                  <a:srgbClr val="1E3448"/>
                </a:solidFill>
                <a:latin typeface="Arial"/>
              </a:rPr>
              <a:t>ominio</a:t>
            </a:r>
            <a:r>
              <a:rPr sz="969" b="0" i="0" dirty="0">
                <a:solidFill>
                  <a:srgbClr val="1E3448"/>
                </a:solidFill>
                <a:latin typeface="Arial"/>
              </a:rPr>
              <a:t> </a:t>
            </a:r>
            <a:r>
              <a:rPr sz="969" b="0" i="0" dirty="0" err="1">
                <a:solidFill>
                  <a:srgbClr val="1E3448"/>
                </a:solidFill>
                <a:latin typeface="Arial"/>
              </a:rPr>
              <a:t>equivalente</a:t>
            </a:r>
            <a:r>
              <a:rPr sz="969" b="0" i="0" dirty="0">
                <a:solidFill>
                  <a:srgbClr val="1E3448"/>
                </a:solidFill>
                <a:latin typeface="Arial"/>
              </a:rPr>
              <a:t> de 100 × 50 mm.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425696"/>
            <a:ext cx="438912" cy="438912"/>
          </a:xfrm>
          <a:prstGeom prst="ellipse">
            <a:avLst/>
          </a:prstGeom>
          <a:solidFill>
            <a:srgbClr val="E8F2FA"/>
          </a:solidFill>
          <a:ln>
            <a:solidFill>
              <a:srgbClr val="B4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425696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003F7D"/>
                </a:solidFill>
                <a:latin typeface="Arial"/>
              </a:rPr>
              <a:t>T6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4398264"/>
            <a:ext cx="347472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20" b="1" i="0">
                <a:solidFill>
                  <a:srgbClr val="003F7D"/>
                </a:solidFill>
                <a:latin typeface="Times New Roman"/>
              </a:rPr>
              <a:t>Tipo de elemento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636008"/>
            <a:ext cx="3493008" cy="2230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69" b="0" i="0" dirty="0" err="1">
                <a:solidFill>
                  <a:srgbClr val="1E3448"/>
                </a:solidFill>
                <a:latin typeface="Arial"/>
              </a:rPr>
              <a:t>Triángulos</a:t>
            </a:r>
            <a:r>
              <a:rPr sz="969" b="0" i="0" dirty="0">
                <a:solidFill>
                  <a:srgbClr val="1E3448"/>
                </a:solidFill>
                <a:latin typeface="Arial"/>
              </a:rPr>
              <a:t> </a:t>
            </a:r>
            <a:r>
              <a:rPr sz="969" b="0" i="0" dirty="0" err="1">
                <a:solidFill>
                  <a:srgbClr val="1E3448"/>
                </a:solidFill>
                <a:latin typeface="Arial"/>
              </a:rPr>
              <a:t>cuadráticos</a:t>
            </a:r>
            <a:r>
              <a:rPr sz="969" b="0" i="0" dirty="0">
                <a:solidFill>
                  <a:srgbClr val="1E3448"/>
                </a:solidFill>
                <a:latin typeface="Arial"/>
              </a:rPr>
              <a:t> de 6 </a:t>
            </a:r>
            <a:r>
              <a:rPr sz="969" b="0" i="0" dirty="0" err="1">
                <a:solidFill>
                  <a:srgbClr val="1E3448"/>
                </a:solidFill>
                <a:latin typeface="Arial"/>
              </a:rPr>
              <a:t>nodos</a:t>
            </a:r>
            <a:r>
              <a:rPr lang="es-MX" sz="969" b="0" i="0" dirty="0">
                <a:solidFill>
                  <a:srgbClr val="1E3448"/>
                </a:solidFill>
                <a:latin typeface="Arial"/>
              </a:rPr>
              <a:t>.</a:t>
            </a:r>
            <a:endParaRPr sz="969" b="0" i="0" dirty="0">
              <a:solidFill>
                <a:srgbClr val="1E3448"/>
              </a:solidFill>
              <a:latin typeface="Arial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48640" y="5212080"/>
            <a:ext cx="438912" cy="438912"/>
          </a:xfrm>
          <a:prstGeom prst="ellipse">
            <a:avLst/>
          </a:prstGeom>
          <a:solidFill>
            <a:srgbClr val="E8F2FA"/>
          </a:solidFill>
          <a:ln>
            <a:solidFill>
              <a:srgbClr val="B4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48640" y="5212080"/>
            <a:ext cx="438912" cy="4389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050" b="1" i="0">
                <a:solidFill>
                  <a:srgbClr val="003F7D"/>
                </a:solidFill>
                <a:latin typeface="Arial"/>
              </a:rPr>
              <a:t>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5184648"/>
            <a:ext cx="3474720" cy="22860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220" b="1" i="0">
                <a:solidFill>
                  <a:srgbClr val="003F7D"/>
                </a:solidFill>
                <a:latin typeface="Times New Roman"/>
              </a:rPr>
              <a:t>Malla de trabajo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422392"/>
            <a:ext cx="3493008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969" b="0" i="0" dirty="0">
                <a:solidFill>
                  <a:srgbClr val="1E3448"/>
                </a:solidFill>
                <a:latin typeface="Arial"/>
              </a:rPr>
              <a:t>≈1018 </a:t>
            </a:r>
            <a:r>
              <a:rPr sz="969" b="0" i="0" dirty="0" err="1">
                <a:solidFill>
                  <a:srgbClr val="1E3448"/>
                </a:solidFill>
                <a:latin typeface="Arial"/>
              </a:rPr>
              <a:t>elementos</a:t>
            </a:r>
            <a:r>
              <a:rPr sz="969" b="0" i="0" dirty="0">
                <a:solidFill>
                  <a:srgbClr val="1E3448"/>
                </a:solidFill>
                <a:latin typeface="Arial"/>
              </a:rPr>
              <a:t>, ≈2131 </a:t>
            </a:r>
            <a:r>
              <a:rPr sz="969" b="0" i="0" dirty="0" err="1">
                <a:solidFill>
                  <a:srgbClr val="1E3448"/>
                </a:solidFill>
                <a:latin typeface="Arial"/>
              </a:rPr>
              <a:t>nodos</a:t>
            </a:r>
            <a:r>
              <a:rPr sz="969" b="0" i="0" dirty="0">
                <a:solidFill>
                  <a:srgbClr val="1E3448"/>
                </a:solidFill>
                <a:latin typeface="Arial"/>
              </a:rPr>
              <a:t>; boundary spacing ≈ 3.33 mm.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47488" y="1417320"/>
            <a:ext cx="2148840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4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5184648" y="1545336"/>
            <a:ext cx="1874519" cy="374904"/>
          </a:xfrm>
          <a:prstGeom prst="roundRect">
            <a:avLst/>
          </a:prstGeom>
          <a:solidFill>
            <a:srgbClr val="005CAA"/>
          </a:solidFill>
          <a:ln>
            <a:solidFill>
              <a:srgbClr val="0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94376" y="1563624"/>
            <a:ext cx="1655063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40" b="1" i="0">
                <a:solidFill>
                  <a:srgbClr val="FFFFFF"/>
                </a:solidFill>
                <a:latin typeface="Times New Roman"/>
              </a:rPr>
              <a:t>Parámetros Soft Soil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85232" y="2084831"/>
            <a:ext cx="1673352" cy="25603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120" b="1" i="0">
                <a:solidFill>
                  <a:srgbClr val="003F7D"/>
                </a:solidFill>
                <a:latin typeface="Times New Roman"/>
              </a:rPr>
              <a:t>Datos experimentales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66944" y="2409420"/>
            <a:ext cx="1719072" cy="3200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 i="0" dirty="0">
                <a:solidFill>
                  <a:srgbClr val="005CAA"/>
                </a:solidFill>
                <a:latin typeface="Arial"/>
              </a:rPr>
              <a:t>e</a:t>
            </a:r>
            <a:r>
              <a:rPr lang="es-CO" sz="1600" b="1" dirty="0">
                <a:solidFill>
                  <a:srgbClr val="005CAA"/>
                </a:solidFill>
                <a:latin typeface="Arial"/>
                <a:sym typeface="Symbol" panose="05050102010706020507" pitchFamily="18" charset="2"/>
              </a:rPr>
              <a:t></a:t>
            </a:r>
            <a:r>
              <a:rPr sz="1600" b="1" i="0" dirty="0">
                <a:solidFill>
                  <a:srgbClr val="005CAA"/>
                </a:solidFill>
                <a:latin typeface="Arial"/>
              </a:rPr>
              <a:t>  ·   Cc   ·   Cr</a:t>
            </a:r>
          </a:p>
        </p:txBody>
      </p:sp>
      <p:sp>
        <p:nvSpPr>
          <p:cNvPr id="34" name="Down Arrow 33"/>
          <p:cNvSpPr/>
          <p:nvPr/>
        </p:nvSpPr>
        <p:spPr>
          <a:xfrm>
            <a:off x="5824728" y="2807208"/>
            <a:ext cx="530352" cy="393192"/>
          </a:xfrm>
          <a:prstGeom prst="downArrow">
            <a:avLst/>
          </a:prstGeom>
          <a:solidFill>
            <a:srgbClr val="005CAA"/>
          </a:solidFill>
          <a:ln>
            <a:solidFill>
              <a:srgbClr val="0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212080" y="3273552"/>
            <a:ext cx="1810512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10" b="1" i="0">
                <a:solidFill>
                  <a:srgbClr val="003F7D"/>
                </a:solidFill>
                <a:latin typeface="Times New Roman"/>
              </a:rPr>
              <a:t>λ* = Cc / [2.3(1+e)]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48072" y="3703320"/>
            <a:ext cx="1938528" cy="3200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210" b="1" i="0">
                <a:solidFill>
                  <a:srgbClr val="003F7D"/>
                </a:solidFill>
                <a:latin typeface="Times New Roman"/>
              </a:rPr>
              <a:t>κ* ≈ 2Cr / [2.3(1+e)]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30952" y="4251960"/>
            <a:ext cx="1572768" cy="868680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B4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440680" y="4370832"/>
            <a:ext cx="1353312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340" b="1" i="0">
                <a:solidFill>
                  <a:srgbClr val="003F7D"/>
                </a:solidFill>
                <a:latin typeface="Arial"/>
              </a:rPr>
              <a:t>λ* = 0.0245
κ* = 0.00987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9512" y="5303520"/>
            <a:ext cx="178308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900" b="0" i="0">
                <a:solidFill>
                  <a:srgbClr val="5E6C7A"/>
                </a:solidFill>
                <a:latin typeface="Arial"/>
              </a:rPr>
              <a:t>Parámetros mecánicos base congelados para la calibración hidráulica.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60920" y="1417320"/>
            <a:ext cx="4526280" cy="4709160"/>
          </a:xfrm>
          <a:prstGeom prst="roundRect">
            <a:avLst/>
          </a:prstGeom>
          <a:solidFill>
            <a:srgbClr val="F5F9FD"/>
          </a:solidFill>
          <a:ln w="12700">
            <a:solidFill>
              <a:srgbClr val="B4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7498079" y="1545336"/>
            <a:ext cx="4251960" cy="374904"/>
          </a:xfrm>
          <a:prstGeom prst="roundRect">
            <a:avLst/>
          </a:prstGeom>
          <a:solidFill>
            <a:srgbClr val="005CAA"/>
          </a:solidFill>
          <a:ln>
            <a:solidFill>
              <a:srgbClr val="0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607807" y="1563624"/>
            <a:ext cx="4032504" cy="3383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360" b="1" i="0" dirty="0" err="1">
                <a:solidFill>
                  <a:srgbClr val="FFFFFF"/>
                </a:solidFill>
                <a:latin typeface="Times New Roman"/>
              </a:rPr>
              <a:t>Condiciones</a:t>
            </a:r>
            <a:r>
              <a:rPr sz="1360" b="1" i="0" dirty="0">
                <a:solidFill>
                  <a:srgbClr val="FFFFFF"/>
                </a:solidFill>
                <a:latin typeface="Times New Roman"/>
              </a:rPr>
              <a:t> de </a:t>
            </a:r>
            <a:r>
              <a:rPr sz="1360" b="1" i="0" dirty="0" err="1">
                <a:solidFill>
                  <a:srgbClr val="FFFFFF"/>
                </a:solidFill>
                <a:latin typeface="Times New Roman"/>
              </a:rPr>
              <a:t>frontera</a:t>
            </a:r>
            <a:r>
              <a:rPr sz="1360" b="1" i="0" dirty="0">
                <a:solidFill>
                  <a:srgbClr val="FFFFFF"/>
                </a:solidFill>
                <a:latin typeface="Times New Roman"/>
              </a:rPr>
              <a:t> y </a:t>
            </a:r>
            <a:r>
              <a:rPr sz="1360" b="1" i="0" dirty="0" err="1">
                <a:solidFill>
                  <a:srgbClr val="FFFFFF"/>
                </a:solidFill>
                <a:latin typeface="Times New Roman"/>
              </a:rPr>
              <a:t>parámetros</a:t>
            </a:r>
            <a:r>
              <a:rPr sz="1360" b="1" i="0" dirty="0">
                <a:solidFill>
                  <a:srgbClr val="FFFFFF"/>
                </a:solidFill>
                <a:latin typeface="Times New Roman"/>
              </a:rPr>
              <a:t> clave</a:t>
            </a:r>
          </a:p>
        </p:txBody>
      </p:sp>
      <p:pic>
        <p:nvPicPr>
          <p:cNvPr id="43" name="Picture 42" descr="468e8ff2-5024-48f7-bf53-f362d3896d26.png"/>
          <p:cNvPicPr>
            <a:picLocks noChangeAspect="1"/>
          </p:cNvPicPr>
          <p:nvPr/>
        </p:nvPicPr>
        <p:blipFill>
          <a:blip r:embed="rId3"/>
          <a:srcRect l="15509" r="15509"/>
          <a:stretch>
            <a:fillRect/>
          </a:stretch>
        </p:blipFill>
        <p:spPr>
          <a:xfrm>
            <a:off x="9249156" y="2300351"/>
            <a:ext cx="2395728" cy="134289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4" name="TextBox 43"/>
          <p:cNvSpPr txBox="1"/>
          <p:nvPr/>
        </p:nvSpPr>
        <p:spPr>
          <a:xfrm>
            <a:off x="9235440" y="3950208"/>
            <a:ext cx="242316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1" dirty="0">
                <a:solidFill>
                  <a:srgbClr val="5E6C7A"/>
                </a:solidFill>
                <a:latin typeface="Arial"/>
              </a:rPr>
              <a:t>Fuente: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captura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directa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de RS2 de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los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modelos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elaborados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en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esta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investigación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07808" y="2057400"/>
            <a:ext cx="1325880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80" b="1" i="0">
                <a:solidFill>
                  <a:srgbClr val="003F7D"/>
                </a:solidFill>
                <a:latin typeface="Times New Roman"/>
              </a:rPr>
              <a:t>Mecánicas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71231" y="2304288"/>
            <a:ext cx="1572768" cy="841248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 algn="l">
              <a:spcAft>
                <a:spcPts val="350"/>
              </a:spcAft>
            </a:pPr>
            <a:r>
              <a:rPr sz="960">
                <a:solidFill>
                  <a:srgbClr val="1E3448"/>
                </a:solidFill>
                <a:latin typeface="Arial"/>
              </a:rPr>
              <a:t>• Laterales: Restrained X</a:t>
            </a:r>
          </a:p>
          <a:p>
            <a:pPr algn="l">
              <a:spcAft>
                <a:spcPts val="350"/>
              </a:spcAft>
            </a:pPr>
            <a:r>
              <a:rPr sz="960">
                <a:solidFill>
                  <a:srgbClr val="1E3448"/>
                </a:solidFill>
                <a:latin typeface="Arial"/>
              </a:rPr>
              <a:t>• Base: Restrained Y</a:t>
            </a:r>
          </a:p>
          <a:p>
            <a:pPr algn="l">
              <a:spcAft>
                <a:spcPts val="350"/>
              </a:spcAft>
            </a:pPr>
            <a:r>
              <a:rPr sz="960">
                <a:solidFill>
                  <a:srgbClr val="1E3448"/>
                </a:solidFill>
                <a:latin typeface="Arial"/>
              </a:rPr>
              <a:t>• Superficie superior libre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07808" y="3236976"/>
            <a:ext cx="1325880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80" b="1" i="0">
                <a:solidFill>
                  <a:srgbClr val="003F7D"/>
                </a:solidFill>
                <a:latin typeface="Times New Roman"/>
              </a:rPr>
              <a:t>Hidráulicas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71231" y="3483864"/>
            <a:ext cx="1572768" cy="841248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 algn="l">
              <a:spcAft>
                <a:spcPts val="350"/>
              </a:spcAft>
            </a:pPr>
            <a:r>
              <a:rPr sz="960">
                <a:solidFill>
                  <a:srgbClr val="1E3448"/>
                </a:solidFill>
                <a:latin typeface="Arial"/>
              </a:rPr>
              <a:t>• PWP = 0 arriba y abajo</a:t>
            </a:r>
          </a:p>
          <a:p>
            <a:pPr algn="l">
              <a:spcAft>
                <a:spcPts val="350"/>
              </a:spcAft>
            </a:pPr>
            <a:r>
              <a:rPr sz="960">
                <a:solidFill>
                  <a:srgbClr val="1E3448"/>
                </a:solidFill>
                <a:latin typeface="Arial"/>
              </a:rPr>
              <a:t>• Laterales no drenantes</a:t>
            </a:r>
          </a:p>
          <a:p>
            <a:pPr algn="l">
              <a:spcAft>
                <a:spcPts val="350"/>
              </a:spcAft>
            </a:pPr>
            <a:r>
              <a:rPr sz="960">
                <a:solidFill>
                  <a:srgbClr val="1E3448"/>
                </a:solidFill>
                <a:latin typeface="Arial"/>
              </a:rPr>
              <a:t>• Doble drenaje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07808" y="4480560"/>
            <a:ext cx="1554480" cy="2377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180" b="1" i="0">
                <a:solidFill>
                  <a:srgbClr val="003F7D"/>
                </a:solidFill>
                <a:latin typeface="Times New Roman"/>
              </a:rPr>
              <a:t>Parámetros clave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71231" y="4718304"/>
            <a:ext cx="2268508" cy="535659"/>
          </a:xfrm>
          <a:prstGeom prst="rect">
            <a:avLst/>
          </a:prstGeom>
          <a:noFill/>
        </p:spPr>
        <p:txBody>
          <a:bodyPr wrap="square" lIns="36576" tIns="18288" rIns="18288" bIns="18288">
            <a:spAutoFit/>
          </a:bodyPr>
          <a:lstStyle/>
          <a:p>
            <a:pPr algn="l">
              <a:spcAft>
                <a:spcPts val="350"/>
              </a:spcAft>
            </a:pPr>
            <a:r>
              <a:rPr sz="969" dirty="0">
                <a:solidFill>
                  <a:srgbClr val="1E3448"/>
                </a:solidFill>
                <a:latin typeface="Arial"/>
              </a:rPr>
              <a:t>• k = k(</a:t>
            </a:r>
            <a:r>
              <a:rPr sz="969" dirty="0" err="1">
                <a:solidFill>
                  <a:srgbClr val="1E3448"/>
                </a:solidFill>
                <a:latin typeface="Arial"/>
              </a:rPr>
              <a:t>σ′v</a:t>
            </a:r>
            <a:r>
              <a:rPr sz="969" dirty="0">
                <a:solidFill>
                  <a:srgbClr val="1E3448"/>
                </a:solidFill>
                <a:latin typeface="Arial"/>
              </a:rPr>
              <a:t>)</a:t>
            </a:r>
          </a:p>
          <a:p>
            <a:pPr algn="l">
              <a:spcAft>
                <a:spcPts val="350"/>
              </a:spcAft>
            </a:pPr>
            <a:r>
              <a:rPr sz="969" dirty="0">
                <a:solidFill>
                  <a:srgbClr val="1E3448"/>
                </a:solidFill>
                <a:latin typeface="Arial"/>
              </a:rPr>
              <a:t>• </a:t>
            </a:r>
            <a:r>
              <a:rPr sz="969" dirty="0" err="1">
                <a:solidFill>
                  <a:srgbClr val="1E3448"/>
                </a:solidFill>
                <a:latin typeface="Arial"/>
              </a:rPr>
              <a:t>Bloques</a:t>
            </a:r>
            <a:r>
              <a:rPr sz="969" dirty="0">
                <a:solidFill>
                  <a:srgbClr val="1E3448"/>
                </a:solidFill>
                <a:latin typeface="Arial"/>
              </a:rPr>
              <a:t>: </a:t>
            </a:r>
            <a:r>
              <a:rPr sz="969" dirty="0" err="1">
                <a:solidFill>
                  <a:srgbClr val="1E3448"/>
                </a:solidFill>
                <a:latin typeface="Arial"/>
              </a:rPr>
              <a:t>elásticos</a:t>
            </a:r>
            <a:r>
              <a:rPr sz="969" dirty="0">
                <a:solidFill>
                  <a:srgbClr val="1E3448"/>
                </a:solidFill>
                <a:latin typeface="Arial"/>
              </a:rPr>
              <a:t> y </a:t>
            </a:r>
            <a:r>
              <a:rPr sz="969" dirty="0" err="1">
                <a:solidFill>
                  <a:srgbClr val="1E3448"/>
                </a:solidFill>
                <a:latin typeface="Arial"/>
              </a:rPr>
              <a:t>casi</a:t>
            </a:r>
            <a:r>
              <a:rPr sz="969" dirty="0">
                <a:solidFill>
                  <a:srgbClr val="1E3448"/>
                </a:solidFill>
                <a:latin typeface="Arial"/>
              </a:rPr>
              <a:t> </a:t>
            </a:r>
            <a:r>
              <a:rPr sz="969" dirty="0" err="1">
                <a:solidFill>
                  <a:srgbClr val="1E3448"/>
                </a:solidFill>
                <a:latin typeface="Arial"/>
              </a:rPr>
              <a:t>impermeables</a:t>
            </a:r>
            <a:endParaRPr sz="969" dirty="0">
              <a:solidFill>
                <a:srgbClr val="1E3448"/>
              </a:solidFill>
              <a:latin typeface="Arial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329184" y="6327648"/>
            <a:ext cx="11521440" cy="365760"/>
          </a:xfrm>
          <a:prstGeom prst="roundRect">
            <a:avLst/>
          </a:prstGeom>
          <a:solidFill>
            <a:srgbClr val="E8F2FA"/>
          </a:solidFill>
          <a:ln w="12700">
            <a:solidFill>
              <a:srgbClr val="B4D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59536" y="6355080"/>
            <a:ext cx="10835640" cy="31089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070" b="0" i="0">
                <a:solidFill>
                  <a:srgbClr val="003F7D"/>
                </a:solidFill>
                <a:latin typeface="Times New Roman"/>
              </a:rPr>
              <a:t>La configuración busca reproducir la respuesta edométrica con parámetros trazables al ensayo y separar la calibración mecánica (λ*, κ*) de la calibración temporal mediante k(σ′v).</a:t>
            </a:r>
          </a:p>
        </p:txBody>
      </p:sp>
      <p:pic>
        <p:nvPicPr>
          <p:cNvPr id="56" name="Imagen 55">
            <a:extLst>
              <a:ext uri="{FF2B5EF4-FFF2-40B4-BE49-F238E27FC236}">
                <a16:creationId xmlns:a16="http://schemas.microsoft.com/office/drawing/2014/main" id="{BFCFDB86-229A-B66B-3597-2EE95E16D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5170" y="4407691"/>
            <a:ext cx="1906711" cy="109017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58" name="TextBox 43">
            <a:extLst>
              <a:ext uri="{FF2B5EF4-FFF2-40B4-BE49-F238E27FC236}">
                <a16:creationId xmlns:a16="http://schemas.microsoft.com/office/drawing/2014/main" id="{F6193915-A76D-0A08-B7E9-044FDAEC9070}"/>
              </a:ext>
            </a:extLst>
          </p:cNvPr>
          <p:cNvSpPr txBox="1"/>
          <p:nvPr/>
        </p:nvSpPr>
        <p:spPr>
          <a:xfrm>
            <a:off x="9253728" y="5689604"/>
            <a:ext cx="2423160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720" b="0" i="1" dirty="0">
                <a:solidFill>
                  <a:srgbClr val="5E6C7A"/>
                </a:solidFill>
                <a:latin typeface="Arial"/>
              </a:rPr>
              <a:t>Fuente: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captura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directa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de RS2 de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los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modelos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elaborados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en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esta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 </a:t>
            </a:r>
            <a:r>
              <a:rPr sz="720" b="0" i="1" dirty="0" err="1">
                <a:solidFill>
                  <a:srgbClr val="5E6C7A"/>
                </a:solidFill>
                <a:latin typeface="Arial"/>
              </a:rPr>
              <a:t>investigación</a:t>
            </a:r>
            <a:r>
              <a:rPr sz="720" b="0" i="1" dirty="0">
                <a:solidFill>
                  <a:srgbClr val="5E6C7A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757bbef-ee38-4b69-a41d-90aa6c2486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91440"/>
            <a:ext cx="585216" cy="5852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0" y="429768"/>
            <a:ext cx="9144000" cy="12801"/>
          </a:xfrm>
          <a:prstGeom prst="rect">
            <a:avLst/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46920" y="236260"/>
            <a:ext cx="2103120" cy="1492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850" b="0" i="0" dirty="0">
                <a:solidFill>
                  <a:srgbClr val="003F7D"/>
                </a:solidFill>
                <a:latin typeface="Arial"/>
              </a:rPr>
              <a:t>TRABAJO DE GRADO</a:t>
            </a:r>
            <a:r>
              <a:rPr lang="es-MX" sz="850" b="0" i="0" dirty="0">
                <a:solidFill>
                  <a:srgbClr val="003F7D"/>
                </a:solidFill>
                <a:latin typeface="Arial"/>
              </a:rPr>
              <a:t> II</a:t>
            </a:r>
            <a:endParaRPr sz="850" b="0" i="0" dirty="0">
              <a:solidFill>
                <a:srgbClr val="003F7D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46920" y="512064"/>
            <a:ext cx="21031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860" b="1" i="0">
                <a:solidFill>
                  <a:srgbClr val="616D79"/>
                </a:solidFill>
                <a:latin typeface="Arial"/>
              </a:rPr>
              <a:t>ANEXO 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713232"/>
            <a:ext cx="10698480" cy="4754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450" b="1" i="0">
                <a:solidFill>
                  <a:srgbClr val="003F7D"/>
                </a:solidFill>
                <a:latin typeface="Times New Roman"/>
              </a:rPr>
              <a:t>Trayectorias e–log σ′ — comparación carga–descarga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371600"/>
            <a:ext cx="5532120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532120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120640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 i="0">
                <a:solidFill>
                  <a:srgbClr val="003F7D"/>
                </a:solidFill>
                <a:latin typeface="Times New Roman"/>
              </a:rPr>
              <a:t>VBP 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508760"/>
            <a:ext cx="5120640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 i="0">
                <a:solidFill>
                  <a:srgbClr val="003F7D"/>
                </a:solidFill>
                <a:latin typeface="Times New Roman"/>
              </a:rPr>
              <a:t>VBP 10 %</a:t>
            </a:r>
          </a:p>
        </p:txBody>
      </p:sp>
      <p:pic>
        <p:nvPicPr>
          <p:cNvPr id="11" name="Picture 10" descr="S_e_logsigma_VBP0_cic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029005"/>
            <a:ext cx="5239512" cy="3860693"/>
          </a:xfrm>
          <a:prstGeom prst="rect">
            <a:avLst/>
          </a:prstGeom>
        </p:spPr>
      </p:pic>
      <p:pic>
        <p:nvPicPr>
          <p:cNvPr id="12" name="Picture 11" descr="S_e_logsigma_VBP10_cicl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029005"/>
            <a:ext cx="5239512" cy="38606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92240"/>
            <a:ext cx="1097280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730" b="0" i="1">
                <a:solidFill>
                  <a:srgbClr val="616D79"/>
                </a:solidFill>
                <a:latin typeface="Arial"/>
              </a:rPr>
              <a:t>Fuente: elaboración propia. Experimental: datos suministrados por el Ing. Andrés H. Clavijo R.; RS2: modelos elaborados en esta investigación.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757bbef-ee38-4b69-a41d-90aa6c2486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91440"/>
            <a:ext cx="585216" cy="5852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0" y="429768"/>
            <a:ext cx="9144000" cy="12801"/>
          </a:xfrm>
          <a:prstGeom prst="rect">
            <a:avLst/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46920" y="236260"/>
            <a:ext cx="2103120" cy="1492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850" b="0" i="0" dirty="0">
                <a:solidFill>
                  <a:srgbClr val="003F7D"/>
                </a:solidFill>
                <a:latin typeface="Arial"/>
              </a:rPr>
              <a:t>TRABAJO DE GRADO</a:t>
            </a:r>
            <a:r>
              <a:rPr lang="es-MX" sz="850" b="0" i="0" dirty="0">
                <a:solidFill>
                  <a:srgbClr val="003F7D"/>
                </a:solidFill>
                <a:latin typeface="Arial"/>
              </a:rPr>
              <a:t> II</a:t>
            </a:r>
            <a:endParaRPr sz="850" b="0" i="0" dirty="0">
              <a:solidFill>
                <a:srgbClr val="003F7D"/>
              </a:solidFill>
              <a:latin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646920" y="512064"/>
            <a:ext cx="21031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860" b="1" i="0">
                <a:solidFill>
                  <a:srgbClr val="616D79"/>
                </a:solidFill>
                <a:latin typeface="Arial"/>
              </a:rPr>
              <a:t>ANEXO A5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713232"/>
            <a:ext cx="10698480" cy="4754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450" b="1" i="0">
                <a:solidFill>
                  <a:srgbClr val="003F7D"/>
                </a:solidFill>
                <a:latin typeface="Times New Roman"/>
              </a:rPr>
              <a:t>Trayectorias e–log σ′ — comparación carga–descarga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371600"/>
            <a:ext cx="5532120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532120" cy="5010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5120640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 i="0">
                <a:solidFill>
                  <a:srgbClr val="003F7D"/>
                </a:solidFill>
                <a:latin typeface="Times New Roman"/>
              </a:rPr>
              <a:t>VBP 20 %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19088" y="1508760"/>
            <a:ext cx="5120640" cy="2743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 i="0">
                <a:solidFill>
                  <a:srgbClr val="003F7D"/>
                </a:solidFill>
                <a:latin typeface="Times New Roman"/>
              </a:rPr>
              <a:t>VBP 30 %</a:t>
            </a:r>
          </a:p>
        </p:txBody>
      </p:sp>
      <p:pic>
        <p:nvPicPr>
          <p:cNvPr id="11" name="Picture 10" descr="S_e_logsigma_VBP20_cicl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" y="2029005"/>
            <a:ext cx="5239512" cy="3860693"/>
          </a:xfrm>
          <a:prstGeom prst="rect">
            <a:avLst/>
          </a:prstGeom>
        </p:spPr>
      </p:pic>
      <p:pic>
        <p:nvPicPr>
          <p:cNvPr id="12" name="Picture 11" descr="S_e_logsigma_VBP30_cicl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029005"/>
            <a:ext cx="5239512" cy="386069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492240"/>
            <a:ext cx="1097280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730" b="0" i="1">
                <a:solidFill>
                  <a:srgbClr val="616D79"/>
                </a:solidFill>
                <a:latin typeface="Arial"/>
              </a:rPr>
              <a:t>Fuente: elaboración propia. Experimental: datos suministrados por el Ing. Andrés H. Clavijo R.; RS2: modelos elaborados en esta investigación.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étodo del punto de inflexión — determinación de t7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920" y="6547104"/>
            <a:ext cx="5600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757bbef-ee38-4b69-a41d-90aa6c2486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" y="91440"/>
            <a:ext cx="585216" cy="58521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2743200" y="429768"/>
            <a:ext cx="9144000" cy="12801"/>
          </a:xfrm>
          <a:prstGeom prst="rect">
            <a:avLst/>
          </a:prstGeom>
          <a:solidFill>
            <a:srgbClr val="00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46920" y="182880"/>
            <a:ext cx="21031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850" b="0" i="0">
                <a:solidFill>
                  <a:srgbClr val="003F7D"/>
                </a:solidFill>
                <a:latin typeface="Arial"/>
              </a:rPr>
              <a:t>TRABAJO DE GRADO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46920" y="512064"/>
            <a:ext cx="2103120" cy="25603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r"/>
            <a:r>
              <a:rPr sz="860" b="1" i="0">
                <a:solidFill>
                  <a:srgbClr val="616D79"/>
                </a:solidFill>
                <a:latin typeface="Arial"/>
              </a:rPr>
              <a:t>ANEXO A1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" y="713232"/>
            <a:ext cx="10698480" cy="47548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2450" b="1" i="0">
                <a:solidFill>
                  <a:srgbClr val="003F7D"/>
                </a:solidFill>
                <a:latin typeface="Times New Roman"/>
              </a:rPr>
              <a:t>Método de Taylor — construcción gráfica de t₉₀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" y="1353312"/>
            <a:ext cx="845820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8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Taylor_explic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316" y="1353312"/>
            <a:ext cx="6887391" cy="507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9079992" y="1353312"/>
            <a:ext cx="2651760" cy="5074920"/>
          </a:xfrm>
          <a:prstGeom prst="roundRect">
            <a:avLst/>
          </a:prstGeom>
          <a:solidFill>
            <a:srgbClr val="F7FAFD"/>
          </a:solidFill>
          <a:ln w="12700">
            <a:solidFill>
              <a:srgbClr val="B8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72016" y="1554480"/>
            <a:ext cx="2267712" cy="347472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Times New Roman"/>
              </a:rPr>
              <a:t>Lectura del procedimiento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71432" y="1481328"/>
            <a:ext cx="2468880" cy="475488"/>
          </a:xfrm>
          <a:prstGeom prst="roundRect">
            <a:avLst/>
          </a:prstGeom>
          <a:solidFill>
            <a:srgbClr val="005CAA"/>
          </a:solidFill>
          <a:ln>
            <a:solidFill>
              <a:srgbClr val="005C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72016" y="1545336"/>
            <a:ext cx="2267712" cy="31089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340" b="1" i="0">
                <a:solidFill>
                  <a:srgbClr val="FFFFFF"/>
                </a:solidFill>
                <a:latin typeface="Times New Roman"/>
              </a:rPr>
              <a:t>Lectura del procedimiento</a:t>
            </a:r>
          </a:p>
        </p:txBody>
      </p:sp>
      <p:sp>
        <p:nvSpPr>
          <p:cNvPr id="13" name="Oval 12"/>
          <p:cNvSpPr/>
          <p:nvPr/>
        </p:nvSpPr>
        <p:spPr>
          <a:xfrm>
            <a:off x="9299448" y="2194560"/>
            <a:ext cx="365760" cy="365760"/>
          </a:xfrm>
          <a:prstGeom prst="ellipse">
            <a:avLst/>
          </a:prstGeom>
          <a:solidFill>
            <a:srgbClr val="E8F2FA"/>
          </a:solidFill>
          <a:ln>
            <a:solidFill>
              <a:srgbClr val="B8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99448" y="2194560"/>
            <a:ext cx="365760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 i="0">
                <a:solidFill>
                  <a:srgbClr val="003F7D"/>
                </a:solidFill>
                <a:latin typeface="Arial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65792" y="2185416"/>
            <a:ext cx="1755648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20" b="1" i="0">
                <a:solidFill>
                  <a:srgbClr val="003F7D"/>
                </a:solidFill>
                <a:latin typeface="Times New Roman"/>
              </a:rPr>
              <a:t>Corrección del origen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65792" y="2395728"/>
            <a:ext cx="1755648" cy="4754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900" b="0" i="0">
                <a:solidFill>
                  <a:srgbClr val="1F3448"/>
                </a:solidFill>
                <a:latin typeface="Arial"/>
              </a:rPr>
              <a:t>Se fija d₀ y se trabaja con asentamiento relativo.</a:t>
            </a:r>
          </a:p>
        </p:txBody>
      </p:sp>
      <p:sp>
        <p:nvSpPr>
          <p:cNvPr id="17" name="Oval 16"/>
          <p:cNvSpPr/>
          <p:nvPr/>
        </p:nvSpPr>
        <p:spPr>
          <a:xfrm>
            <a:off x="9299448" y="3127248"/>
            <a:ext cx="365760" cy="365760"/>
          </a:xfrm>
          <a:prstGeom prst="ellipse">
            <a:avLst/>
          </a:prstGeom>
          <a:solidFill>
            <a:srgbClr val="E8F2FA"/>
          </a:solidFill>
          <a:ln>
            <a:solidFill>
              <a:srgbClr val="B8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99448" y="3127248"/>
            <a:ext cx="365760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 i="0">
                <a:solidFill>
                  <a:srgbClr val="003F7D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65792" y="3118104"/>
            <a:ext cx="1755648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20" b="1" i="0">
                <a:solidFill>
                  <a:srgbClr val="003F7D"/>
                </a:solidFill>
                <a:latin typeface="Times New Roman"/>
              </a:rPr>
              <a:t>Zona lineal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5792" y="3328416"/>
            <a:ext cx="1755648" cy="4754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900" b="0" i="0">
                <a:solidFill>
                  <a:srgbClr val="1F3448"/>
                </a:solidFill>
                <a:latin typeface="Arial"/>
              </a:rPr>
              <a:t>Se ajusta la rama inicial en el plano asentamiento–√t.</a:t>
            </a:r>
          </a:p>
        </p:txBody>
      </p:sp>
      <p:sp>
        <p:nvSpPr>
          <p:cNvPr id="21" name="Oval 20"/>
          <p:cNvSpPr/>
          <p:nvPr/>
        </p:nvSpPr>
        <p:spPr>
          <a:xfrm>
            <a:off x="9299448" y="4059935"/>
            <a:ext cx="365760" cy="365760"/>
          </a:xfrm>
          <a:prstGeom prst="ellipse">
            <a:avLst/>
          </a:prstGeom>
          <a:solidFill>
            <a:srgbClr val="E8F2FA"/>
          </a:solidFill>
          <a:ln>
            <a:solidFill>
              <a:srgbClr val="B8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9448" y="4059935"/>
            <a:ext cx="365760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 i="0">
                <a:solidFill>
                  <a:srgbClr val="003F7D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65792" y="4050791"/>
            <a:ext cx="1755648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20" b="1" i="0">
                <a:solidFill>
                  <a:srgbClr val="003F7D"/>
                </a:solidFill>
                <a:latin typeface="Times New Roman"/>
              </a:rPr>
              <a:t>Recta Taylor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65792" y="4261103"/>
            <a:ext cx="1755648" cy="4754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900" b="0" i="0">
                <a:solidFill>
                  <a:srgbClr val="1F3448"/>
                </a:solidFill>
                <a:latin typeface="Arial"/>
              </a:rPr>
              <a:t>Se traza la línea con pendiente m/1.15.</a:t>
            </a:r>
          </a:p>
        </p:txBody>
      </p:sp>
      <p:sp>
        <p:nvSpPr>
          <p:cNvPr id="25" name="Oval 24"/>
          <p:cNvSpPr/>
          <p:nvPr/>
        </p:nvSpPr>
        <p:spPr>
          <a:xfrm>
            <a:off x="9299448" y="4992623"/>
            <a:ext cx="365760" cy="365760"/>
          </a:xfrm>
          <a:prstGeom prst="ellipse">
            <a:avLst/>
          </a:prstGeom>
          <a:solidFill>
            <a:srgbClr val="E8F2FA"/>
          </a:solidFill>
          <a:ln>
            <a:solidFill>
              <a:srgbClr val="B8D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299448" y="4992623"/>
            <a:ext cx="365760" cy="36576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sz="1100" b="1" i="0">
                <a:solidFill>
                  <a:srgbClr val="003F7D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4983479"/>
            <a:ext cx="1755648" cy="22860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l"/>
            <a:r>
              <a:rPr sz="1120" b="1" i="0">
                <a:solidFill>
                  <a:srgbClr val="003F7D"/>
                </a:solidFill>
                <a:latin typeface="Times New Roman"/>
              </a:rPr>
              <a:t>Intersección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5792" y="5193791"/>
            <a:ext cx="1755648" cy="47548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900" b="0" i="0">
                <a:solidFill>
                  <a:srgbClr val="1F3448"/>
                </a:solidFill>
                <a:latin typeface="Arial"/>
              </a:rPr>
              <a:t>El cruce con la curva define √t₉₀ y, por tanto, t₉₀.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492240"/>
            <a:ext cx="10972800" cy="201168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l"/>
            <a:r>
              <a:rPr sz="730" b="0" i="1">
                <a:solidFill>
                  <a:srgbClr val="616D79"/>
                </a:solidFill>
                <a:latin typeface="Arial"/>
              </a:rPr>
              <a:t>Fuente: elaboración propia a partir de los resultados RS2 y de la aplicación del método de Taylor.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étodo de Casagrande — construcción gráfica de t1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72920" y="6547104"/>
            <a:ext cx="5600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60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t70 — método del punto de inflexión | Comparación por barras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965960" cy="310896"/>
          </a:xfrm>
          <a:prstGeom prst="roundRect">
            <a:avLst>
              <a:gd name="adj" fmla="val 20588"/>
            </a:avLst>
          </a:prstGeom>
          <a:solidFill>
            <a:srgbClr val="EAF3FA"/>
          </a:solidFill>
          <a:ln w="8890">
            <a:solidFill>
              <a:srgbClr val="C6DF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21792" y="12070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POR BARRAS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84048" y="1527048"/>
            <a:ext cx="11411712" cy="4846320"/>
          </a:xfrm>
          <a:prstGeom prst="roundRect">
            <a:avLst>
              <a:gd name="adj" fmla="val 1887"/>
            </a:avLst>
          </a:prstGeom>
          <a:solidFill>
            <a:srgbClr val="FAFCFE"/>
          </a:solidFill>
          <a:ln w="12700">
            <a:solidFill>
              <a:srgbClr val="C7DDEB"/>
            </a:solidFill>
            <a:prstDash val="solid"/>
          </a:ln>
          <a:effectLst>
            <a:outerShdw blurRad="25400" dist="50800" dir="2700000" algn="bl" rotWithShape="0">
              <a:srgbClr val="AAB6C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/mnt/data/BAR_t70_Inflex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457798"/>
            <a:ext cx="11137392" cy="298482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4048" y="6556248"/>
            <a:ext cx="5600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A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t70 — método del punto de inflexión | Tendencia con VBP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965960" cy="310896"/>
          </a:xfrm>
          <a:prstGeom prst="roundRect">
            <a:avLst>
              <a:gd name="adj" fmla="val 20588"/>
            </a:avLst>
          </a:prstGeom>
          <a:solidFill>
            <a:srgbClr val="EAF3FA"/>
          </a:solidFill>
          <a:ln w="8890">
            <a:solidFill>
              <a:srgbClr val="C6DF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21792" y="12070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 CON VBP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84048" y="1527048"/>
            <a:ext cx="11411712" cy="4846320"/>
          </a:xfrm>
          <a:prstGeom prst="roundRect">
            <a:avLst>
              <a:gd name="adj" fmla="val 1887"/>
            </a:avLst>
          </a:prstGeom>
          <a:solidFill>
            <a:srgbClr val="FAFCFE"/>
          </a:solidFill>
          <a:ln w="12700">
            <a:solidFill>
              <a:srgbClr val="C7DDEB"/>
            </a:solidFill>
            <a:prstDash val="solid"/>
          </a:ln>
          <a:effectLst>
            <a:outerShdw blurRad="25400" dist="50800" dir="2700000" algn="bl" rotWithShape="0">
              <a:srgbClr val="AAB6C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/mnt/data/TEND_t70_Inflex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580" y="1664208"/>
            <a:ext cx="8300936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4048" y="6556248"/>
            <a:ext cx="5600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A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t90 — método de Taylor | Comparación por barras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965960" cy="310896"/>
          </a:xfrm>
          <a:prstGeom prst="roundRect">
            <a:avLst>
              <a:gd name="adj" fmla="val 20588"/>
            </a:avLst>
          </a:prstGeom>
          <a:solidFill>
            <a:srgbClr val="EAF3FA"/>
          </a:solidFill>
          <a:ln w="8890">
            <a:solidFill>
              <a:srgbClr val="C6DF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21792" y="12070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POR BARRAS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84048" y="1527048"/>
            <a:ext cx="11411712" cy="4846320"/>
          </a:xfrm>
          <a:prstGeom prst="roundRect">
            <a:avLst>
              <a:gd name="adj" fmla="val 1887"/>
            </a:avLst>
          </a:prstGeom>
          <a:solidFill>
            <a:srgbClr val="FAFCFE"/>
          </a:solidFill>
          <a:ln w="12700">
            <a:solidFill>
              <a:srgbClr val="C7DDEB"/>
            </a:solidFill>
            <a:prstDash val="solid"/>
          </a:ln>
          <a:effectLst>
            <a:outerShdw blurRad="25400" dist="50800" dir="2700000" algn="bl" rotWithShape="0">
              <a:srgbClr val="AAB6C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/mnt/data/BAR_t90_Tay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457798"/>
            <a:ext cx="11137392" cy="298482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4048" y="6556248"/>
            <a:ext cx="5600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A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t90 — método de Taylor | Tendencia con VBP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965960" cy="310896"/>
          </a:xfrm>
          <a:prstGeom prst="roundRect">
            <a:avLst>
              <a:gd name="adj" fmla="val 20588"/>
            </a:avLst>
          </a:prstGeom>
          <a:solidFill>
            <a:srgbClr val="EAF3FA"/>
          </a:solidFill>
          <a:ln w="8890">
            <a:solidFill>
              <a:srgbClr val="C6DF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21792" y="12070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 CON VBP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84048" y="1527048"/>
            <a:ext cx="11411712" cy="4846320"/>
          </a:xfrm>
          <a:prstGeom prst="roundRect">
            <a:avLst>
              <a:gd name="adj" fmla="val 1887"/>
            </a:avLst>
          </a:prstGeom>
          <a:solidFill>
            <a:srgbClr val="FAFCFE"/>
          </a:solidFill>
          <a:ln w="12700">
            <a:solidFill>
              <a:srgbClr val="C7DDEB"/>
            </a:solidFill>
            <a:prstDash val="solid"/>
          </a:ln>
          <a:effectLst>
            <a:outerShdw blurRad="25400" dist="50800" dir="2700000" algn="bl" rotWithShape="0">
              <a:srgbClr val="AAB6C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/mnt/data/TEND_t90_Tay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580" y="1664208"/>
            <a:ext cx="8300936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4048" y="6556248"/>
            <a:ext cx="5600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A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t100 — método Casagrande | Comparación por barras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965960" cy="310896"/>
          </a:xfrm>
          <a:prstGeom prst="roundRect">
            <a:avLst>
              <a:gd name="adj" fmla="val 20588"/>
            </a:avLst>
          </a:prstGeom>
          <a:solidFill>
            <a:srgbClr val="EAF3FA"/>
          </a:solidFill>
          <a:ln w="8890">
            <a:solidFill>
              <a:srgbClr val="C6DF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21792" y="12070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COMPARACIÓN POR BARRAS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84048" y="1527048"/>
            <a:ext cx="11411712" cy="4846320"/>
          </a:xfrm>
          <a:prstGeom prst="roundRect">
            <a:avLst>
              <a:gd name="adj" fmla="val 1887"/>
            </a:avLst>
          </a:prstGeom>
          <a:solidFill>
            <a:srgbClr val="FAFCFE"/>
          </a:solidFill>
          <a:ln w="12700">
            <a:solidFill>
              <a:srgbClr val="C7DDEB"/>
            </a:solidFill>
            <a:prstDash val="solid"/>
          </a:ln>
          <a:effectLst>
            <a:outerShdw blurRad="25400" dist="50800" dir="2700000" algn="bl" rotWithShape="0">
              <a:srgbClr val="AAB6C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/mnt/data/BAR_t100_Casagran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457798"/>
            <a:ext cx="11137392" cy="298482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4048" y="6556248"/>
            <a:ext cx="5600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A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5836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003F7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t100 — método Casagrande | Tendencia con VBP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1965960" cy="310896"/>
          </a:xfrm>
          <a:prstGeom prst="roundRect">
            <a:avLst>
              <a:gd name="adj" fmla="val 20588"/>
            </a:avLst>
          </a:prstGeom>
          <a:solidFill>
            <a:srgbClr val="EAF3FA"/>
          </a:solidFill>
          <a:ln w="8890">
            <a:solidFill>
              <a:srgbClr val="C6DF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621792" y="1207008"/>
            <a:ext cx="1737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3F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TENDENCIA CON VBP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384048" y="1527048"/>
            <a:ext cx="11411712" cy="4846320"/>
          </a:xfrm>
          <a:prstGeom prst="roundRect">
            <a:avLst>
              <a:gd name="adj" fmla="val 1887"/>
            </a:avLst>
          </a:prstGeom>
          <a:solidFill>
            <a:srgbClr val="FAFCFE"/>
          </a:solidFill>
          <a:ln w="12700">
            <a:solidFill>
              <a:srgbClr val="C7DDEB"/>
            </a:solidFill>
            <a:prstDash val="solid"/>
          </a:ln>
          <a:effectLst>
            <a:outerShdw blurRad="25400" dist="50800" dir="2700000" algn="bl" rotWithShape="0">
              <a:srgbClr val="AAB6C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6" name="Image 0" descr="/mnt/data/TEND_t100_Casagran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5189" y="1664208"/>
            <a:ext cx="10260531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54048" y="6556248"/>
            <a:ext cx="5600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750">
                <a:solidFill>
                  <a:srgbClr val="7A8794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"/>
          <p:cNvSpPr txBox="1"/>
          <p:nvPr/>
        </p:nvSpPr>
        <p:spPr>
          <a:xfrm>
            <a:off x="502920" y="658368"/>
            <a:ext cx="10972800" cy="402336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l"/>
            <a:r>
              <a:rPr lang="es-CO" sz="2300" b="1" i="0" dirty="0">
                <a:solidFill>
                  <a:srgbClr val="003F7D"/>
                </a:solidFill>
                <a:latin typeface="Times New Roman"/>
                <a:cs typeface="Times New Roman"/>
              </a:rPr>
              <a:t>Contenido</a:t>
            </a:r>
          </a:p>
        </p:txBody>
      </p:sp>
      <p:sp>
        <p:nvSpPr>
          <p:cNvPr id="102" name="TextBox"/>
          <p:cNvSpPr txBox="1"/>
          <p:nvPr/>
        </p:nvSpPr>
        <p:spPr>
          <a:xfrm>
            <a:off x="502920" y="1170000"/>
            <a:ext cx="10972800" cy="33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l"/>
            <a:r>
              <a:rPr lang="es-CO" sz="1250" b="0" i="1" dirty="0">
                <a:solidFill>
                  <a:srgbClr val="5E6C7A"/>
                </a:solidFill>
                <a:latin typeface="Arial"/>
                <a:cs typeface="Arial"/>
              </a:rPr>
              <a:t>La presentación sigue el hilo de los tres objetivos específicos del trabajo.</a:t>
            </a:r>
          </a:p>
        </p:txBody>
      </p:sp>
      <p:sp>
        <p:nvSpPr>
          <p:cNvPr id="103" name="Card"/>
          <p:cNvSpPr/>
          <p:nvPr/>
        </p:nvSpPr>
        <p:spPr>
          <a:xfrm>
            <a:off x="502920" y="1760000"/>
            <a:ext cx="11186160" cy="1300000"/>
          </a:xfrm>
          <a:prstGeom prst="roundRect">
            <a:avLst>
              <a:gd name="adj" fmla="val 4000"/>
            </a:avLst>
          </a:prstGeom>
          <a:solidFill>
            <a:srgbClr val="FAFCFE"/>
          </a:solidFill>
          <a:ln w="12700">
            <a:solidFill>
              <a:srgbClr val="C7DDEB"/>
            </a:solidFill>
            <a:prstDash val="solid"/>
          </a:ln>
          <a:effectLst>
            <a:outerShdw blurRad="25400" dist="50800" dir="2700000" algn="bl" rotWithShape="0">
              <a:srgbClr val="AAB6C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4" name="Oval"/>
          <p:cNvSpPr/>
          <p:nvPr/>
        </p:nvSpPr>
        <p:spPr>
          <a:xfrm>
            <a:off x="720000" y="2060000"/>
            <a:ext cx="700000" cy="700000"/>
          </a:xfrm>
          <a:prstGeom prst="ellipse">
            <a:avLst/>
          </a:prstGeom>
          <a:solidFill>
            <a:srgbClr val="E8F2FA"/>
          </a:solidFill>
          <a:ln>
            <a:solidFill>
              <a:srgbClr val="B4D2E8"/>
            </a:solidFill>
          </a:ln>
        </p:spPr>
        <p:txBody>
          <a:bodyPr rtlCol="0" anchor="ctr"/>
          <a:lstStyle/>
          <a:p>
            <a:pPr algn="ctr"/>
            <a:r>
              <a:rPr lang="es-CO" sz="2800" b="1" dirty="0">
                <a:solidFill>
                  <a:srgbClr val="003F7D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105" name="TextBox"/>
          <p:cNvSpPr txBox="1"/>
          <p:nvPr/>
        </p:nvSpPr>
        <p:spPr>
          <a:xfrm>
            <a:off x="1640000" y="1910000"/>
            <a:ext cx="9200000" cy="42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l"/>
            <a:r>
              <a:rPr lang="es-CO" sz="1700" b="1" i="0" dirty="0">
                <a:solidFill>
                  <a:srgbClr val="003F7D"/>
                </a:solidFill>
                <a:latin typeface="Times New Roman"/>
                <a:cs typeface="Times New Roman"/>
              </a:rPr>
              <a:t>Objetivo 1 — Formulación analítica</a:t>
            </a:r>
          </a:p>
        </p:txBody>
      </p:sp>
      <p:sp>
        <p:nvSpPr>
          <p:cNvPr id="106" name="TextBox"/>
          <p:cNvSpPr txBox="1"/>
          <p:nvPr/>
        </p:nvSpPr>
        <p:spPr>
          <a:xfrm>
            <a:off x="1640000" y="2380000"/>
            <a:ext cx="9300000" cy="56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1250" b="0" i="0" dirty="0">
                <a:solidFill>
                  <a:srgbClr val="1E3448"/>
                </a:solidFill>
                <a:latin typeface="Arial"/>
                <a:cs typeface="Arial"/>
              </a:rPr>
              <a:t>Establecer la relación entre la VBP y el coeficiente de consolidación mediante una formulación analítica (Cv,BIM).</a:t>
            </a:r>
          </a:p>
        </p:txBody>
      </p:sp>
      <p:sp>
        <p:nvSpPr>
          <p:cNvPr id="107" name="Card"/>
          <p:cNvSpPr/>
          <p:nvPr/>
        </p:nvSpPr>
        <p:spPr>
          <a:xfrm>
            <a:off x="502920" y="3260000"/>
            <a:ext cx="11186160" cy="1300000"/>
          </a:xfrm>
          <a:prstGeom prst="roundRect">
            <a:avLst>
              <a:gd name="adj" fmla="val 4000"/>
            </a:avLst>
          </a:prstGeom>
          <a:solidFill>
            <a:srgbClr val="FAFCFE"/>
          </a:solidFill>
          <a:ln w="12700">
            <a:solidFill>
              <a:srgbClr val="C7DDEB"/>
            </a:solidFill>
            <a:prstDash val="solid"/>
          </a:ln>
          <a:effectLst>
            <a:outerShdw blurRad="25400" dist="50800" dir="2700000" algn="bl" rotWithShape="0">
              <a:srgbClr val="AAB6C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8" name="Oval"/>
          <p:cNvSpPr/>
          <p:nvPr/>
        </p:nvSpPr>
        <p:spPr>
          <a:xfrm>
            <a:off x="720000" y="3560000"/>
            <a:ext cx="700000" cy="700000"/>
          </a:xfrm>
          <a:prstGeom prst="ellipse">
            <a:avLst/>
          </a:prstGeom>
          <a:solidFill>
            <a:srgbClr val="E8F2FA"/>
          </a:solidFill>
          <a:ln>
            <a:solidFill>
              <a:srgbClr val="B4D2E8"/>
            </a:solidFill>
          </a:ln>
        </p:spPr>
        <p:txBody>
          <a:bodyPr rtlCol="0" anchor="ctr"/>
          <a:lstStyle/>
          <a:p>
            <a:pPr algn="ctr"/>
            <a:r>
              <a:rPr lang="es-CO" sz="2800" b="1" dirty="0">
                <a:solidFill>
                  <a:srgbClr val="003F7D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09" name="TextBox"/>
          <p:cNvSpPr txBox="1"/>
          <p:nvPr/>
        </p:nvSpPr>
        <p:spPr>
          <a:xfrm>
            <a:off x="1640000" y="3410000"/>
            <a:ext cx="9200000" cy="42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l"/>
            <a:r>
              <a:rPr lang="es-CO" sz="1700" b="1" i="0" dirty="0">
                <a:solidFill>
                  <a:srgbClr val="003F7D"/>
                </a:solidFill>
                <a:latin typeface="Times New Roman"/>
                <a:cs typeface="Times New Roman"/>
              </a:rPr>
              <a:t>Objetivo 2 — Validación</a:t>
            </a:r>
          </a:p>
        </p:txBody>
      </p:sp>
      <p:sp>
        <p:nvSpPr>
          <p:cNvPr id="110" name="TextBox"/>
          <p:cNvSpPr txBox="1"/>
          <p:nvPr/>
        </p:nvSpPr>
        <p:spPr>
          <a:xfrm>
            <a:off x="1640000" y="3880000"/>
            <a:ext cx="9300000" cy="56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1250" b="0" i="0" dirty="0">
                <a:solidFill>
                  <a:srgbClr val="1E3448"/>
                </a:solidFill>
                <a:latin typeface="Arial"/>
                <a:cs typeface="Arial"/>
              </a:rPr>
              <a:t>Verificar la validez del Cv(VBP) comparándolo con el Cv experimental (base de datos de Clavijo R., 2022).</a:t>
            </a:r>
          </a:p>
        </p:txBody>
      </p:sp>
      <p:sp>
        <p:nvSpPr>
          <p:cNvPr id="111" name="Card"/>
          <p:cNvSpPr/>
          <p:nvPr/>
        </p:nvSpPr>
        <p:spPr>
          <a:xfrm>
            <a:off x="502920" y="4760000"/>
            <a:ext cx="11186160" cy="1300000"/>
          </a:xfrm>
          <a:prstGeom prst="roundRect">
            <a:avLst>
              <a:gd name="adj" fmla="val 4000"/>
            </a:avLst>
          </a:prstGeom>
          <a:solidFill>
            <a:srgbClr val="FAFCFE"/>
          </a:solidFill>
          <a:ln w="12700">
            <a:solidFill>
              <a:srgbClr val="C7DDEB"/>
            </a:solidFill>
            <a:prstDash val="solid"/>
          </a:ln>
          <a:effectLst>
            <a:outerShdw blurRad="25400" dist="50800" dir="2700000" algn="bl" rotWithShape="0">
              <a:srgbClr val="AAB6C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2" name="Oval"/>
          <p:cNvSpPr/>
          <p:nvPr/>
        </p:nvSpPr>
        <p:spPr>
          <a:xfrm>
            <a:off x="720000" y="5060000"/>
            <a:ext cx="700000" cy="700000"/>
          </a:xfrm>
          <a:prstGeom prst="ellipse">
            <a:avLst/>
          </a:prstGeom>
          <a:solidFill>
            <a:srgbClr val="E8F2FA"/>
          </a:solidFill>
          <a:ln>
            <a:solidFill>
              <a:srgbClr val="B4D2E8"/>
            </a:solidFill>
          </a:ln>
        </p:spPr>
        <p:txBody>
          <a:bodyPr rtlCol="0" anchor="ctr"/>
          <a:lstStyle/>
          <a:p>
            <a:pPr algn="ctr"/>
            <a:r>
              <a:rPr lang="es-CO" sz="2800" b="1" dirty="0">
                <a:solidFill>
                  <a:srgbClr val="003F7D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13" name="TextBox"/>
          <p:cNvSpPr txBox="1"/>
          <p:nvPr/>
        </p:nvSpPr>
        <p:spPr>
          <a:xfrm>
            <a:off x="1640000" y="4910000"/>
            <a:ext cx="9200000" cy="42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l"/>
            <a:r>
              <a:rPr lang="es-CO" sz="1700" b="1" i="0" dirty="0">
                <a:solidFill>
                  <a:srgbClr val="003F7D"/>
                </a:solidFill>
                <a:latin typeface="Times New Roman"/>
                <a:cs typeface="Times New Roman"/>
              </a:rPr>
              <a:t>Objetivo 3 — Modelación numérica</a:t>
            </a:r>
          </a:p>
        </p:txBody>
      </p:sp>
      <p:sp>
        <p:nvSpPr>
          <p:cNvPr id="114" name="TextBox"/>
          <p:cNvSpPr txBox="1"/>
          <p:nvPr/>
        </p:nvSpPr>
        <p:spPr>
          <a:xfrm>
            <a:off x="1640000" y="5380000"/>
            <a:ext cx="9300000" cy="56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1250" b="0" i="0" dirty="0">
                <a:solidFill>
                  <a:srgbClr val="1E3448"/>
                </a:solidFill>
                <a:latin typeface="Arial"/>
                <a:cs typeface="Arial"/>
              </a:rPr>
              <a:t>Calcular los tiempos de consolidación (t70, t90, t100) mediante modelos de elementos finitos acoplados en RS2.</a:t>
            </a:r>
          </a:p>
        </p:txBody>
      </p:sp>
      <p:sp>
        <p:nvSpPr>
          <p:cNvPr id="990" name="Slide Number Placeholder"/>
          <p:cNvSpPr>
            <a:spLocks noGrp="1"/>
          </p:cNvSpPr>
          <p:nvPr>
            <p:ph type="sldNum" sz="quarter" idx="4294967295"/>
          </p:nvPr>
        </p:nvSpPr>
        <p:spPr>
          <a:xfrm>
            <a:off x="11254048" y="6556248"/>
            <a:ext cx="560000" cy="182880"/>
          </a:xfrm>
          <a:prstGeom prst="rect">
            <a:avLst/>
          </a:prstGeom>
        </p:spPr>
        <p:txBody>
          <a:bodyPr lIns="0" tIns="0" rIns="0" bIns="0"/>
          <a:lstStyle>
            <a:lvl1pPr>
              <a:defRPr sz="750">
                <a:solidFill>
                  <a:srgbClr val="7A8794"/>
                </a:solidFill>
                <a:latin typeface="Arial"/>
              </a:defRPr>
            </a:lvl1pPr>
          </a:lstStyle>
          <a:p>
            <a:pPr algn="r"/>
            <a:fld id="{F7021451-1387-4CA6-816F-3879F97B5CBC}" type="slidenum">
              <a:rPr lang="es-CO"/>
              <a:t>0</a:t>
            </a:fld>
            <a:endParaRPr lang="es-CO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"/>
          <p:cNvSpPr txBox="1"/>
          <p:nvPr/>
        </p:nvSpPr>
        <p:spPr>
          <a:xfrm>
            <a:off x="502920" y="658368"/>
            <a:ext cx="10972800" cy="402336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l"/>
            <a:r>
              <a:rPr lang="es-CO" sz="2300" b="1" i="0" dirty="0">
                <a:solidFill>
                  <a:srgbClr val="003F7D"/>
                </a:solidFill>
                <a:latin typeface="Times New Roman"/>
                <a:cs typeface="Times New Roman"/>
              </a:rPr>
              <a:t>Resultados — síntesis</a:t>
            </a:r>
          </a:p>
        </p:txBody>
      </p:sp>
      <p:sp>
        <p:nvSpPr>
          <p:cNvPr id="102" name="Card"/>
          <p:cNvSpPr/>
          <p:nvPr/>
        </p:nvSpPr>
        <p:spPr>
          <a:xfrm>
            <a:off x="502920" y="1143000"/>
            <a:ext cx="1965960" cy="310896"/>
          </a:xfrm>
          <a:prstGeom prst="roundRect">
            <a:avLst/>
          </a:prstGeom>
          <a:solidFill>
            <a:srgbClr val="EAF3FA"/>
          </a:solidFill>
          <a:ln w="8890">
            <a:solidFill>
              <a:srgbClr val="C6DF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3" name="TextBox"/>
          <p:cNvSpPr txBox="1"/>
          <p:nvPr/>
        </p:nvSpPr>
        <p:spPr>
          <a:xfrm>
            <a:off x="621792" y="1180000"/>
            <a:ext cx="1737360" cy="25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l"/>
            <a:r>
              <a:rPr lang="es-CO" sz="950" b="1" i="0" dirty="0">
                <a:solidFill>
                  <a:srgbClr val="003F7D"/>
                </a:solidFill>
                <a:latin typeface="Arial"/>
                <a:cs typeface="Arial"/>
              </a:rPr>
              <a:t>CIFRAS CLAVE</a:t>
            </a:r>
          </a:p>
        </p:txBody>
      </p:sp>
      <p:sp>
        <p:nvSpPr>
          <p:cNvPr id="104" name="Card"/>
          <p:cNvSpPr/>
          <p:nvPr/>
        </p:nvSpPr>
        <p:spPr>
          <a:xfrm>
            <a:off x="384048" y="1560000"/>
            <a:ext cx="11423904" cy="1980000"/>
          </a:xfrm>
          <a:prstGeom prst="roundRect">
            <a:avLst>
              <a:gd name="adj" fmla="val 2600"/>
            </a:avLst>
          </a:prstGeom>
          <a:solidFill>
            <a:srgbClr val="FAFCFE"/>
          </a:solidFill>
          <a:ln w="12700">
            <a:solidFill>
              <a:srgbClr val="C7DDEB"/>
            </a:solidFill>
            <a:prstDash val="solid"/>
          </a:ln>
          <a:effectLst>
            <a:outerShdw blurRad="25400" dist="50800" dir="2700000" algn="bl" rotWithShape="0">
              <a:srgbClr val="AAB6C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5" name="HeaderPill"/>
          <p:cNvSpPr/>
          <p:nvPr/>
        </p:nvSpPr>
        <p:spPr>
          <a:xfrm>
            <a:off x="520000" y="1700000"/>
            <a:ext cx="6300000" cy="360000"/>
          </a:xfrm>
          <a:prstGeom prst="roundRect">
            <a:avLst/>
          </a:prstGeom>
          <a:solidFill>
            <a:srgbClr val="005CAA"/>
          </a:solidFill>
          <a:ln>
            <a:solidFill>
              <a:srgbClr val="005CAA"/>
            </a:solidFill>
          </a:ln>
        </p:spPr>
        <p:txBody>
          <a:bodyPr rtlCol="0" anchor="ctr" lIns="109728"/>
          <a:lstStyle/>
          <a:p>
            <a:pPr algn="l"/>
            <a:r>
              <a:rPr lang="es-CO"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Reducción experimental a VBP30 vs. VBP0</a:t>
            </a:r>
          </a:p>
        </p:txBody>
      </p:sp>
      <p:sp>
        <p:nvSpPr>
          <p:cNvPr id="106" name="TextBox"/>
          <p:cNvSpPr txBox="1"/>
          <p:nvPr/>
        </p:nvSpPr>
        <p:spPr>
          <a:xfrm>
            <a:off x="6950000" y="1700000"/>
            <a:ext cx="4700000" cy="36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r"/>
            <a:r>
              <a:rPr lang="es-CO" sz="1050" b="0" i="1" dirty="0">
                <a:solidFill>
                  <a:srgbClr val="5E6C7A"/>
                </a:solidFill>
                <a:latin typeface="Arial"/>
                <a:cs typeface="Arial"/>
              </a:rPr>
              <a:t>Promedio de los 6 esfuerzos efectivos</a:t>
            </a:r>
          </a:p>
        </p:txBody>
      </p:sp>
      <p:sp>
        <p:nvSpPr>
          <p:cNvPr id="107" name="Card"/>
          <p:cNvSpPr/>
          <p:nvPr/>
        </p:nvSpPr>
        <p:spPr>
          <a:xfrm>
            <a:off x="700000" y="2230000"/>
            <a:ext cx="3200000" cy="1180000"/>
          </a:xfrm>
          <a:prstGeom prst="roundRect">
            <a:avLst>
              <a:gd name="adj" fmla="val 6000"/>
            </a:avLst>
          </a:prstGeom>
          <a:solidFill>
            <a:srgbClr val="F2F8FD"/>
          </a:solidFill>
          <a:ln w="9525">
            <a:solidFill>
              <a:srgbClr val="C7DD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8" name="TextBox"/>
          <p:cNvSpPr txBox="1"/>
          <p:nvPr/>
        </p:nvSpPr>
        <p:spPr>
          <a:xfrm>
            <a:off x="700000" y="2290000"/>
            <a:ext cx="3200000" cy="64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ctr"/>
            <a:r>
              <a:rPr lang="es-CO" sz="3600" b="1" i="0" dirty="0">
                <a:solidFill>
                  <a:srgbClr val="005CAA"/>
                </a:solidFill>
                <a:latin typeface="Times New Roman"/>
                <a:cs typeface="Times New Roman"/>
              </a:rPr>
              <a:t>↓ 28.4 %</a:t>
            </a:r>
          </a:p>
        </p:txBody>
      </p:sp>
      <p:sp>
        <p:nvSpPr>
          <p:cNvPr id="109" name="TextBox"/>
          <p:cNvSpPr txBox="1"/>
          <p:nvPr/>
        </p:nvSpPr>
        <p:spPr>
          <a:xfrm>
            <a:off x="700000" y="2940000"/>
            <a:ext cx="3200000" cy="36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ctr"/>
            <a:r>
              <a:rPr lang="es-CO" sz="1100" b="1" i="0" dirty="0">
                <a:solidFill>
                  <a:srgbClr val="003F7D"/>
                </a:solidFill>
                <a:latin typeface="Arial"/>
                <a:cs typeface="Arial"/>
              </a:rPr>
              <a:t>t70  ·  punto de inflexión</a:t>
            </a:r>
          </a:p>
        </p:txBody>
      </p:sp>
      <p:sp>
        <p:nvSpPr>
          <p:cNvPr id="110" name="Card"/>
          <p:cNvSpPr/>
          <p:nvPr/>
        </p:nvSpPr>
        <p:spPr>
          <a:xfrm>
            <a:off x="4520000" y="2230000"/>
            <a:ext cx="3200000" cy="1180000"/>
          </a:xfrm>
          <a:prstGeom prst="roundRect">
            <a:avLst>
              <a:gd name="adj" fmla="val 6000"/>
            </a:avLst>
          </a:prstGeom>
          <a:solidFill>
            <a:srgbClr val="F2F8FD"/>
          </a:solidFill>
          <a:ln w="9525">
            <a:solidFill>
              <a:srgbClr val="C7DD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1" name="TextBox"/>
          <p:cNvSpPr txBox="1"/>
          <p:nvPr/>
        </p:nvSpPr>
        <p:spPr>
          <a:xfrm>
            <a:off x="4520000" y="2290000"/>
            <a:ext cx="3200000" cy="64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ctr"/>
            <a:r>
              <a:rPr lang="es-CO" sz="3600" b="1" i="0" dirty="0">
                <a:solidFill>
                  <a:srgbClr val="005CAA"/>
                </a:solidFill>
                <a:latin typeface="Times New Roman"/>
                <a:cs typeface="Times New Roman"/>
              </a:rPr>
              <a:t>↓ 26.9 %</a:t>
            </a:r>
          </a:p>
        </p:txBody>
      </p:sp>
      <p:sp>
        <p:nvSpPr>
          <p:cNvPr id="112" name="TextBox"/>
          <p:cNvSpPr txBox="1"/>
          <p:nvPr/>
        </p:nvSpPr>
        <p:spPr>
          <a:xfrm>
            <a:off x="4520000" y="2940000"/>
            <a:ext cx="3200000" cy="36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ctr"/>
            <a:r>
              <a:rPr lang="es-CO" sz="1100" b="1" i="0" dirty="0">
                <a:solidFill>
                  <a:srgbClr val="003F7D"/>
                </a:solidFill>
                <a:latin typeface="Arial"/>
                <a:cs typeface="Arial"/>
              </a:rPr>
              <a:t>t90  ·  Taylor</a:t>
            </a:r>
          </a:p>
        </p:txBody>
      </p:sp>
      <p:sp>
        <p:nvSpPr>
          <p:cNvPr id="113" name="Card"/>
          <p:cNvSpPr/>
          <p:nvPr/>
        </p:nvSpPr>
        <p:spPr>
          <a:xfrm>
            <a:off x="8340000" y="2230000"/>
            <a:ext cx="3200000" cy="1180000"/>
          </a:xfrm>
          <a:prstGeom prst="roundRect">
            <a:avLst>
              <a:gd name="adj" fmla="val 6000"/>
            </a:avLst>
          </a:prstGeom>
          <a:solidFill>
            <a:srgbClr val="F2F8FD"/>
          </a:solidFill>
          <a:ln w="9525">
            <a:solidFill>
              <a:srgbClr val="C7DDEB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4" name="TextBox"/>
          <p:cNvSpPr txBox="1"/>
          <p:nvPr/>
        </p:nvSpPr>
        <p:spPr>
          <a:xfrm>
            <a:off x="8340000" y="2290000"/>
            <a:ext cx="3200000" cy="64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ctr"/>
            <a:r>
              <a:rPr lang="es-CO" sz="3600" b="1" i="0" dirty="0">
                <a:solidFill>
                  <a:srgbClr val="005CAA"/>
                </a:solidFill>
                <a:latin typeface="Times New Roman"/>
                <a:cs typeface="Times New Roman"/>
              </a:rPr>
              <a:t>↓ 30.2 %</a:t>
            </a:r>
          </a:p>
        </p:txBody>
      </p:sp>
      <p:sp>
        <p:nvSpPr>
          <p:cNvPr id="115" name="TextBox"/>
          <p:cNvSpPr txBox="1"/>
          <p:nvPr/>
        </p:nvSpPr>
        <p:spPr>
          <a:xfrm>
            <a:off x="8340000" y="2940000"/>
            <a:ext cx="3200000" cy="36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ctr"/>
            <a:r>
              <a:rPr lang="es-CO" sz="1100" b="1" i="0" dirty="0">
                <a:solidFill>
                  <a:srgbClr val="003F7D"/>
                </a:solidFill>
                <a:latin typeface="Arial"/>
                <a:cs typeface="Arial"/>
              </a:rPr>
              <a:t>t100  ·  Casagrande</a:t>
            </a:r>
          </a:p>
        </p:txBody>
      </p:sp>
      <p:sp>
        <p:nvSpPr>
          <p:cNvPr id="116" name="Card"/>
          <p:cNvSpPr/>
          <p:nvPr/>
        </p:nvSpPr>
        <p:spPr>
          <a:xfrm>
            <a:off x="384048" y="3700000"/>
            <a:ext cx="7480000" cy="2560000"/>
          </a:xfrm>
          <a:prstGeom prst="roundRect">
            <a:avLst>
              <a:gd name="adj" fmla="val 2600"/>
            </a:avLst>
          </a:prstGeom>
          <a:solidFill>
            <a:srgbClr val="FAFCFE"/>
          </a:solidFill>
          <a:ln w="12700">
            <a:solidFill>
              <a:srgbClr val="C7DDEB"/>
            </a:solidFill>
            <a:prstDash val="solid"/>
          </a:ln>
          <a:effectLst>
            <a:outerShdw blurRad="25400" dist="50800" dir="2700000" algn="bl" rotWithShape="0">
              <a:srgbClr val="AAB6C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7" name="HeaderPill"/>
          <p:cNvSpPr/>
          <p:nvPr/>
        </p:nvSpPr>
        <p:spPr>
          <a:xfrm>
            <a:off x="520000" y="3840000"/>
            <a:ext cx="7200000" cy="360000"/>
          </a:xfrm>
          <a:prstGeom prst="roundRect">
            <a:avLst/>
          </a:prstGeom>
          <a:solidFill>
            <a:srgbClr val="005CAA"/>
          </a:solidFill>
          <a:ln>
            <a:solidFill>
              <a:srgbClr val="005CAA"/>
            </a:solidFill>
          </a:ln>
        </p:spPr>
        <p:txBody>
          <a:bodyPr rtlCol="0" anchor="ctr" lIns="109728"/>
          <a:lstStyle/>
          <a:p>
            <a:pPr algn="l"/>
            <a:r>
              <a:rPr lang="es-CO"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Ajuste numérico — t90 (Taylor), MAPE</a:t>
            </a:r>
          </a:p>
        </p:txBody>
      </p:sp>
      <p:sp>
        <p:nvSpPr>
          <p:cNvPr id="118" name="TextBox"/>
          <p:cNvSpPr txBox="1"/>
          <p:nvPr/>
        </p:nvSpPr>
        <p:spPr>
          <a:xfrm>
            <a:off x="620000" y="4300000"/>
            <a:ext cx="3200000" cy="32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l"/>
            <a:r>
              <a:rPr lang="es-CO" sz="1000" b="0" i="0" dirty="0">
                <a:solidFill>
                  <a:srgbClr val="1E3448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119" name="TextBox"/>
          <p:cNvSpPr txBox="1"/>
          <p:nvPr/>
        </p:nvSpPr>
        <p:spPr>
          <a:xfrm>
            <a:off x="3700000" y="4300000"/>
            <a:ext cx="1950000" cy="32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ctr"/>
            <a:r>
              <a:rPr lang="es-CO" sz="1050" b="1" i="0" dirty="0">
                <a:solidFill>
                  <a:srgbClr val="003F7D"/>
                </a:solidFill>
                <a:latin typeface="Arial"/>
                <a:cs typeface="Arial"/>
              </a:rPr>
              <a:t>Con 6 esfuerzos</a:t>
            </a:r>
          </a:p>
        </p:txBody>
      </p:sp>
      <p:sp>
        <p:nvSpPr>
          <p:cNvPr id="120" name="TextBox"/>
          <p:cNvSpPr txBox="1"/>
          <p:nvPr/>
        </p:nvSpPr>
        <p:spPr>
          <a:xfrm>
            <a:off x="5650000" y="4300000"/>
            <a:ext cx="2050000" cy="32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ctr"/>
            <a:r>
              <a:rPr lang="es-CO" sz="1050" b="1" i="0" dirty="0">
                <a:solidFill>
                  <a:srgbClr val="003F7D"/>
                </a:solidFill>
                <a:latin typeface="Arial"/>
                <a:cs typeface="Arial"/>
              </a:rPr>
              <a:t>Sin 20.47 kPa</a:t>
            </a:r>
          </a:p>
        </p:txBody>
      </p:sp>
      <p:sp>
        <p:nvSpPr>
          <p:cNvPr id="121" name="TextBox"/>
          <p:cNvSpPr txBox="1"/>
          <p:nvPr/>
        </p:nvSpPr>
        <p:spPr>
          <a:xfrm>
            <a:off x="620000" y="4720000"/>
            <a:ext cx="3100000" cy="36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l"/>
            <a:r>
              <a:rPr lang="es-CO" sz="1300" b="1" i="0" dirty="0">
                <a:solidFill>
                  <a:srgbClr val="1E3448"/>
                </a:solidFill>
                <a:latin typeface="Arial"/>
                <a:cs typeface="Arial"/>
              </a:rPr>
              <a:t>Modelo explícito</a:t>
            </a:r>
          </a:p>
        </p:txBody>
      </p:sp>
      <p:sp>
        <p:nvSpPr>
          <p:cNvPr id="122" name="TextBox"/>
          <p:cNvSpPr txBox="1"/>
          <p:nvPr/>
        </p:nvSpPr>
        <p:spPr>
          <a:xfrm>
            <a:off x="3700000" y="4720000"/>
            <a:ext cx="1950000" cy="36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ctr"/>
            <a:r>
              <a:rPr lang="es-CO" sz="1600" b="1" i="0" dirty="0">
                <a:solidFill>
                  <a:srgbClr val="005CAA"/>
                </a:solidFill>
                <a:latin typeface="Times New Roman"/>
                <a:cs typeface="Times New Roman"/>
              </a:rPr>
              <a:t>18.2 %</a:t>
            </a:r>
          </a:p>
        </p:txBody>
      </p:sp>
      <p:sp>
        <p:nvSpPr>
          <p:cNvPr id="123" name="TextBox"/>
          <p:cNvSpPr txBox="1"/>
          <p:nvPr/>
        </p:nvSpPr>
        <p:spPr>
          <a:xfrm>
            <a:off x="5650000" y="4720000"/>
            <a:ext cx="2050000" cy="36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ctr"/>
            <a:r>
              <a:rPr lang="es-CO" sz="1600" b="1" i="0" dirty="0">
                <a:solidFill>
                  <a:srgbClr val="005CAA"/>
                </a:solidFill>
                <a:latin typeface="Times New Roman"/>
                <a:cs typeface="Times New Roman"/>
              </a:rPr>
              <a:t>11.4 %</a:t>
            </a:r>
          </a:p>
        </p:txBody>
      </p:sp>
      <p:sp>
        <p:nvSpPr>
          <p:cNvPr id="124" name="TextBox"/>
          <p:cNvSpPr txBox="1"/>
          <p:nvPr/>
        </p:nvSpPr>
        <p:spPr>
          <a:xfrm>
            <a:off x="620000" y="5280000"/>
            <a:ext cx="3100000" cy="36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l"/>
            <a:r>
              <a:rPr lang="es-CO" sz="1300" b="1" i="0" dirty="0">
                <a:solidFill>
                  <a:srgbClr val="1E3448"/>
                </a:solidFill>
                <a:latin typeface="Arial"/>
                <a:cs typeface="Arial"/>
              </a:rPr>
              <a:t>Modelo equivalente</a:t>
            </a:r>
          </a:p>
        </p:txBody>
      </p:sp>
      <p:sp>
        <p:nvSpPr>
          <p:cNvPr id="125" name="TextBox"/>
          <p:cNvSpPr txBox="1"/>
          <p:nvPr/>
        </p:nvSpPr>
        <p:spPr>
          <a:xfrm>
            <a:off x="3700000" y="5280000"/>
            <a:ext cx="1950000" cy="36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ctr"/>
            <a:r>
              <a:rPr lang="es-CO" sz="1600" b="1" i="0" dirty="0">
                <a:solidFill>
                  <a:srgbClr val="005CAA"/>
                </a:solidFill>
                <a:latin typeface="Times New Roman"/>
                <a:cs typeface="Times New Roman"/>
              </a:rPr>
              <a:t>23.0 %</a:t>
            </a:r>
          </a:p>
        </p:txBody>
      </p:sp>
      <p:sp>
        <p:nvSpPr>
          <p:cNvPr id="126" name="TextBox"/>
          <p:cNvSpPr txBox="1"/>
          <p:nvPr/>
        </p:nvSpPr>
        <p:spPr>
          <a:xfrm>
            <a:off x="5650000" y="5280000"/>
            <a:ext cx="2050000" cy="36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ctr"/>
            <a:r>
              <a:rPr lang="es-CO" sz="1600" b="1" i="0" dirty="0">
                <a:solidFill>
                  <a:srgbClr val="005CAA"/>
                </a:solidFill>
                <a:latin typeface="Times New Roman"/>
                <a:cs typeface="Times New Roman"/>
              </a:rPr>
              <a:t>13.7 %</a:t>
            </a:r>
          </a:p>
        </p:txBody>
      </p:sp>
      <p:sp>
        <p:nvSpPr>
          <p:cNvPr id="127" name="TextBox"/>
          <p:cNvSpPr txBox="1"/>
          <p:nvPr/>
        </p:nvSpPr>
        <p:spPr>
          <a:xfrm>
            <a:off x="620000" y="5900000"/>
            <a:ext cx="7000000" cy="30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l"/>
            <a:r>
              <a:rPr lang="es-CO" sz="950" b="0" i="1" dirty="0">
                <a:solidFill>
                  <a:srgbClr val="5E6C7A"/>
                </a:solidFill>
                <a:latin typeface="Arial"/>
                <a:cs typeface="Arial"/>
              </a:rPr>
              <a:t>El 20.47 kPa es la etapa de peor ajuste de la construcción de Taylor (análisis de sensibilidad).</a:t>
            </a:r>
          </a:p>
        </p:txBody>
      </p:sp>
      <p:sp>
        <p:nvSpPr>
          <p:cNvPr id="128" name="Card"/>
          <p:cNvSpPr/>
          <p:nvPr/>
        </p:nvSpPr>
        <p:spPr>
          <a:xfrm>
            <a:off x="8020000" y="3700000"/>
            <a:ext cx="3787952" cy="2560000"/>
          </a:xfrm>
          <a:prstGeom prst="roundRect">
            <a:avLst>
              <a:gd name="adj" fmla="val 4000"/>
            </a:avLst>
          </a:prstGeom>
          <a:solidFill>
            <a:srgbClr val="F2F8FD"/>
          </a:solidFill>
          <a:ln w="12700">
            <a:solidFill>
              <a:srgbClr val="C7DDEB"/>
            </a:solidFill>
            <a:prstDash val="solid"/>
          </a:ln>
          <a:effectLst>
            <a:outerShdw blurRad="25400" dist="50800" dir="2700000" algn="bl" rotWithShape="0">
              <a:srgbClr val="AAB6C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29" name="TextBox"/>
          <p:cNvSpPr txBox="1"/>
          <p:nvPr/>
        </p:nvSpPr>
        <p:spPr>
          <a:xfrm>
            <a:off x="8160000" y="3860000"/>
            <a:ext cx="3500000" cy="36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ctr"/>
            <a:r>
              <a:rPr lang="es-CO" sz="1250" b="1" i="0" dirty="0">
                <a:solidFill>
                  <a:srgbClr val="003F7D"/>
                </a:solidFill>
                <a:latin typeface="Times New Roman"/>
                <a:cs typeface="Times New Roman"/>
              </a:rPr>
              <a:t>Formulación analítica</a:t>
            </a:r>
          </a:p>
        </p:txBody>
      </p:sp>
      <p:sp>
        <p:nvSpPr>
          <p:cNvPr id="130" name="TextBox"/>
          <p:cNvSpPr txBox="1"/>
          <p:nvPr/>
        </p:nvSpPr>
        <p:spPr>
          <a:xfrm>
            <a:off x="8160000" y="4280000"/>
            <a:ext cx="3500000" cy="68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ctr"/>
            <a:r>
              <a:rPr lang="es-CO" sz="4000" b="1" i="0" dirty="0">
                <a:solidFill>
                  <a:srgbClr val="005CAA"/>
                </a:solidFill>
                <a:latin typeface="Times New Roman"/>
                <a:cs typeface="Times New Roman"/>
              </a:rPr>
              <a:t>16.1 %</a:t>
            </a:r>
          </a:p>
        </p:txBody>
      </p:sp>
      <p:sp>
        <p:nvSpPr>
          <p:cNvPr id="131" name="TextBox"/>
          <p:cNvSpPr txBox="1"/>
          <p:nvPr/>
        </p:nvSpPr>
        <p:spPr>
          <a:xfrm>
            <a:off x="8160000" y="4980000"/>
            <a:ext cx="3500000" cy="36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ctr"/>
            <a:r>
              <a:rPr lang="es-CO" sz="1050" b="1" i="0" dirty="0">
                <a:solidFill>
                  <a:srgbClr val="003F7D"/>
                </a:solidFill>
                <a:latin typeface="Arial"/>
                <a:cs typeface="Arial"/>
              </a:rPr>
              <a:t>MAPE Cv,BIM vs. experimental</a:t>
            </a:r>
          </a:p>
        </p:txBody>
      </p:sp>
      <p:sp>
        <p:nvSpPr>
          <p:cNvPr id="132" name="TextBox"/>
          <p:cNvSpPr txBox="1"/>
          <p:nvPr/>
        </p:nvSpPr>
        <p:spPr>
          <a:xfrm>
            <a:off x="8160000" y="5380000"/>
            <a:ext cx="3500000" cy="70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ctr"/>
            <a:r>
              <a:rPr lang="es-CO" sz="1000" b="0" i="1" dirty="0">
                <a:solidFill>
                  <a:srgbClr val="5E6C7A"/>
                </a:solidFill>
                <a:latin typeface="Arial"/>
                <a:cs typeface="Arial"/>
              </a:rPr>
              <a:t>Preserva el orden de magnitud del Cv experimental (base Taylor).</a:t>
            </a:r>
          </a:p>
        </p:txBody>
      </p:sp>
      <p:sp>
        <p:nvSpPr>
          <p:cNvPr id="990" name="Slide Number Placeholder"/>
          <p:cNvSpPr>
            <a:spLocks noGrp="1"/>
          </p:cNvSpPr>
          <p:nvPr>
            <p:ph type="sldNum" sz="quarter" idx="4294967295"/>
          </p:nvPr>
        </p:nvSpPr>
        <p:spPr>
          <a:xfrm>
            <a:off x="11254048" y="6556248"/>
            <a:ext cx="560000" cy="182880"/>
          </a:xfrm>
          <a:prstGeom prst="rect">
            <a:avLst/>
          </a:prstGeom>
        </p:spPr>
        <p:txBody>
          <a:bodyPr lIns="0" tIns="0" rIns="0" bIns="0"/>
          <a:lstStyle>
            <a:lvl1pPr>
              <a:defRPr sz="750">
                <a:solidFill>
                  <a:srgbClr val="7A8794"/>
                </a:solidFill>
                <a:latin typeface="Arial"/>
              </a:defRPr>
            </a:lvl1pPr>
          </a:lstStyle>
          <a:p>
            <a:pPr algn="r"/>
            <a:fld id="{F7021451-1387-4CA6-816F-3879F97B5CBC}" type="slidenum">
              <a:rPr lang="es-CO"/>
              <a:t>0</a:t>
            </a:fld>
            <a:endParaRPr lang="es-CO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"/>
          <p:cNvSpPr txBox="1"/>
          <p:nvPr/>
        </p:nvSpPr>
        <p:spPr>
          <a:xfrm>
            <a:off x="502920" y="658368"/>
            <a:ext cx="10972800" cy="402336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l"/>
            <a:r>
              <a:rPr lang="es-CO" sz="2300" b="1" i="0" dirty="0">
                <a:solidFill>
                  <a:srgbClr val="003F7D"/>
                </a:solidFill>
                <a:latin typeface="Times New Roman"/>
                <a:cs typeface="Times New Roman"/>
              </a:rPr>
              <a:t>Conclusiones</a:t>
            </a:r>
          </a:p>
        </p:txBody>
      </p:sp>
      <p:sp>
        <p:nvSpPr>
          <p:cNvPr id="102" name="Card"/>
          <p:cNvSpPr/>
          <p:nvPr/>
        </p:nvSpPr>
        <p:spPr>
          <a:xfrm>
            <a:off x="502920" y="1143000"/>
            <a:ext cx="1965960" cy="310896"/>
          </a:xfrm>
          <a:prstGeom prst="roundRect">
            <a:avLst/>
          </a:prstGeom>
          <a:solidFill>
            <a:srgbClr val="EAF3FA"/>
          </a:solidFill>
          <a:ln w="8890">
            <a:solidFill>
              <a:srgbClr val="C6DF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3" name="TextBox"/>
          <p:cNvSpPr txBox="1"/>
          <p:nvPr/>
        </p:nvSpPr>
        <p:spPr>
          <a:xfrm>
            <a:off x="621792" y="1180000"/>
            <a:ext cx="1737360" cy="25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l"/>
            <a:r>
              <a:rPr lang="es-CO" sz="950" b="1" i="0" dirty="0">
                <a:solidFill>
                  <a:srgbClr val="003F7D"/>
                </a:solidFill>
                <a:latin typeface="Arial"/>
                <a:cs typeface="Arial"/>
              </a:rPr>
              <a:t>RESPUESTA A LA HIPÓTESIS</a:t>
            </a:r>
          </a:p>
        </p:txBody>
      </p:sp>
      <p:sp>
        <p:nvSpPr>
          <p:cNvPr id="104" name="Card"/>
          <p:cNvSpPr/>
          <p:nvPr/>
        </p:nvSpPr>
        <p:spPr>
          <a:xfrm>
            <a:off x="502920" y="1620000"/>
            <a:ext cx="11186160" cy="1060000"/>
          </a:xfrm>
          <a:prstGeom prst="roundRect">
            <a:avLst>
              <a:gd name="adj" fmla="val 5000"/>
            </a:avLst>
          </a:prstGeom>
          <a:solidFill>
            <a:srgbClr val="EAF3FA"/>
          </a:solidFill>
          <a:ln w="9525">
            <a:solidFill>
              <a:srgbClr val="C6DF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5" name="TextBox"/>
          <p:cNvSpPr txBox="1"/>
          <p:nvPr/>
        </p:nvSpPr>
        <p:spPr>
          <a:xfrm>
            <a:off x="680000" y="1690000"/>
            <a:ext cx="10800000" cy="36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1500" b="1" i="0" dirty="0">
                <a:solidFill>
                  <a:srgbClr val="003F7D"/>
                </a:solidFill>
                <a:latin typeface="Times New Roman"/>
                <a:cs typeface="Times New Roman"/>
              </a:rPr>
              <a:t>Dirección confirmada (experimental)</a:t>
            </a:r>
          </a:p>
        </p:txBody>
      </p:sp>
      <p:sp>
        <p:nvSpPr>
          <p:cNvPr id="106" name="TextBox"/>
          <p:cNvSpPr txBox="1"/>
          <p:nvPr/>
        </p:nvSpPr>
        <p:spPr>
          <a:xfrm>
            <a:off x="680000" y="2070000"/>
            <a:ext cx="10800000" cy="60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1200" b="0" i="0" dirty="0">
                <a:solidFill>
                  <a:srgbClr val="1E3448"/>
                </a:solidFill>
                <a:latin typeface="Arial"/>
                <a:cs typeface="Arial"/>
              </a:rPr>
              <a:t>Mayor VBP → menor tiempo de consolidación primaria: t90 y t100 se reducen en los seis esfuerzos. A VBP30, las reducciones medias son 28.4 % (t70), 26.9 % (t90) y 30.2 % (t100) respecto a VBP0.</a:t>
            </a:r>
          </a:p>
        </p:txBody>
      </p:sp>
      <p:sp>
        <p:nvSpPr>
          <p:cNvPr id="107" name="Card"/>
          <p:cNvSpPr/>
          <p:nvPr/>
        </p:nvSpPr>
        <p:spPr>
          <a:xfrm>
            <a:off x="502920" y="2740000"/>
            <a:ext cx="11186160" cy="940000"/>
          </a:xfrm>
          <a:prstGeom prst="roundRect">
            <a:avLst>
              <a:gd name="adj" fmla="val 5000"/>
            </a:avLst>
          </a:prstGeom>
          <a:solidFill>
            <a:srgbClr val="EAF3FA"/>
          </a:solidFill>
          <a:ln w="9525">
            <a:solidFill>
              <a:srgbClr val="C6DF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8" name="TextBox"/>
          <p:cNvSpPr txBox="1"/>
          <p:nvPr/>
        </p:nvSpPr>
        <p:spPr>
          <a:xfrm>
            <a:off x="680000" y="2810000"/>
            <a:ext cx="10800000" cy="36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1500" b="1" i="0" dirty="0">
                <a:solidFill>
                  <a:srgbClr val="003F7D"/>
                </a:solidFill>
                <a:latin typeface="Times New Roman"/>
                <a:cs typeface="Times New Roman"/>
              </a:rPr>
              <a:t>Modelo explícito: dirección sí, magnitud no</a:t>
            </a:r>
          </a:p>
        </p:txBody>
      </p:sp>
      <p:sp>
        <p:nvSpPr>
          <p:cNvPr id="109" name="TextBox"/>
          <p:cNvSpPr txBox="1"/>
          <p:nvPr/>
        </p:nvSpPr>
        <p:spPr>
          <a:xfrm>
            <a:off x="680000" y="3190000"/>
            <a:ext cx="10800000" cy="48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1200" b="0" i="0" dirty="0">
                <a:solidFill>
                  <a:srgbClr val="1E3448"/>
                </a:solidFill>
                <a:latin typeface="Arial"/>
                <a:cs typeface="Arial"/>
              </a:rPr>
              <a:t>Reproduce la dirección del efecto en VBP20–VBP30 pero subestima la magnitud (−11.9 % vs. −26.9 % en t90 a VBP30) y no la reproduce en VBP10.</a:t>
            </a:r>
          </a:p>
        </p:txBody>
      </p:sp>
      <p:sp>
        <p:nvSpPr>
          <p:cNvPr id="110" name="Card"/>
          <p:cNvSpPr/>
          <p:nvPr/>
        </p:nvSpPr>
        <p:spPr>
          <a:xfrm>
            <a:off x="502920" y="3740000"/>
            <a:ext cx="11186160" cy="840000"/>
          </a:xfrm>
          <a:prstGeom prst="roundRect">
            <a:avLst>
              <a:gd name="adj" fmla="val 5000"/>
            </a:avLst>
          </a:prstGeom>
          <a:solidFill>
            <a:srgbClr val="EAF3FA"/>
          </a:solidFill>
          <a:ln w="9525">
            <a:solidFill>
              <a:srgbClr val="C6DF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1" name="TextBox"/>
          <p:cNvSpPr txBox="1"/>
          <p:nvPr/>
        </p:nvSpPr>
        <p:spPr>
          <a:xfrm>
            <a:off x="680000" y="3810000"/>
            <a:ext cx="10800000" cy="36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1500" b="1" i="0" dirty="0">
                <a:solidFill>
                  <a:srgbClr val="003F7D"/>
                </a:solidFill>
                <a:latin typeface="Times New Roman"/>
                <a:cs typeface="Times New Roman"/>
              </a:rPr>
              <a:t>Modelo equivalente: no preserva la dirección</a:t>
            </a:r>
          </a:p>
        </p:txBody>
      </p:sp>
      <p:sp>
        <p:nvSpPr>
          <p:cNvPr id="112" name="TextBox"/>
          <p:cNvSpPr txBox="1"/>
          <p:nvPr/>
        </p:nvSpPr>
        <p:spPr>
          <a:xfrm>
            <a:off x="680000" y="4190000"/>
            <a:ext cx="10800000" cy="38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1200" b="0" i="0" dirty="0">
                <a:solidFill>
                  <a:srgbClr val="1E3448"/>
                </a:solidFill>
                <a:latin typeface="Arial"/>
                <a:cs typeface="Arial"/>
              </a:rPr>
              <a:t>La respuesta temporal sigue el orden del parámetro de compresión λ* asignado, no la tendencia experimental con la VBP.</a:t>
            </a:r>
          </a:p>
        </p:txBody>
      </p:sp>
      <p:sp>
        <p:nvSpPr>
          <p:cNvPr id="113" name="Card"/>
          <p:cNvSpPr/>
          <p:nvPr/>
        </p:nvSpPr>
        <p:spPr>
          <a:xfrm>
            <a:off x="502920" y="4640000"/>
            <a:ext cx="11186160" cy="920000"/>
          </a:xfrm>
          <a:prstGeom prst="roundRect">
            <a:avLst>
              <a:gd name="adj" fmla="val 5000"/>
            </a:avLst>
          </a:prstGeom>
          <a:solidFill>
            <a:srgbClr val="E8F2FA"/>
          </a:solidFill>
          <a:ln w="9525">
            <a:solidFill>
              <a:srgbClr val="B4D2E8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4" name="TextBox"/>
          <p:cNvSpPr txBox="1"/>
          <p:nvPr/>
        </p:nvSpPr>
        <p:spPr>
          <a:xfrm>
            <a:off x="680000" y="4710000"/>
            <a:ext cx="10800000" cy="36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1500" b="1" i="0" dirty="0">
                <a:solidFill>
                  <a:srgbClr val="003F7D"/>
                </a:solidFill>
                <a:latin typeface="Times New Roman"/>
                <a:cs typeface="Times New Roman"/>
              </a:rPr>
              <a:t>Interpretación</a:t>
            </a:r>
          </a:p>
        </p:txBody>
      </p:sp>
      <p:sp>
        <p:nvSpPr>
          <p:cNvPr id="115" name="TextBox"/>
          <p:cNvSpPr txBox="1"/>
          <p:nvPr/>
        </p:nvSpPr>
        <p:spPr>
          <a:xfrm>
            <a:off x="680000" y="5090000"/>
            <a:ext cx="10800000" cy="46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1200" b="0" i="0" dirty="0">
                <a:solidFill>
                  <a:srgbClr val="1E3448"/>
                </a:solidFill>
                <a:latin typeface="Arial"/>
                <a:cs typeface="Arial"/>
              </a:rPr>
              <a:t>La menor deformabilidad por sí sola no explica toda la respuesta temporal: la rigidez es un contribuyente, no una explicación suficiente.</a:t>
            </a:r>
          </a:p>
        </p:txBody>
      </p:sp>
      <p:sp>
        <p:nvSpPr>
          <p:cNvPr id="990" name="Slide Number Placeholder"/>
          <p:cNvSpPr>
            <a:spLocks noGrp="1"/>
          </p:cNvSpPr>
          <p:nvPr>
            <p:ph type="sldNum" sz="quarter" idx="4294967295"/>
          </p:nvPr>
        </p:nvSpPr>
        <p:spPr>
          <a:xfrm>
            <a:off x="11254048" y="6556248"/>
            <a:ext cx="560000" cy="182880"/>
          </a:xfrm>
          <a:prstGeom prst="rect">
            <a:avLst/>
          </a:prstGeom>
        </p:spPr>
        <p:txBody>
          <a:bodyPr lIns="0" tIns="0" rIns="0" bIns="0"/>
          <a:lstStyle>
            <a:lvl1pPr>
              <a:defRPr sz="750">
                <a:solidFill>
                  <a:srgbClr val="7A8794"/>
                </a:solidFill>
                <a:latin typeface="Arial"/>
              </a:defRPr>
            </a:lvl1pPr>
          </a:lstStyle>
          <a:p>
            <a:pPr algn="r"/>
            <a:fld id="{F7021451-1387-4CA6-816F-3879F97B5CBC}" type="slidenum">
              <a:rPr lang="es-CO"/>
              <a:t>0</a:t>
            </a:fld>
            <a:endParaRPr lang="es-CO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"/>
          <p:cNvSpPr txBox="1"/>
          <p:nvPr/>
        </p:nvSpPr>
        <p:spPr>
          <a:xfrm>
            <a:off x="502920" y="658368"/>
            <a:ext cx="10972800" cy="402336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l"/>
            <a:r>
              <a:rPr lang="es-CO" sz="2300" b="1" i="0" dirty="0">
                <a:solidFill>
                  <a:srgbClr val="003F7D"/>
                </a:solidFill>
                <a:latin typeface="Times New Roman"/>
                <a:cs typeface="Times New Roman"/>
              </a:rPr>
              <a:t>Estado de avance</a:t>
            </a:r>
          </a:p>
        </p:txBody>
      </p:sp>
      <p:sp>
        <p:nvSpPr>
          <p:cNvPr id="102" name="TextBox"/>
          <p:cNvSpPr txBox="1"/>
          <p:nvPr/>
        </p:nvSpPr>
        <p:spPr>
          <a:xfrm>
            <a:off x="502920" y="1150000"/>
            <a:ext cx="10972800" cy="33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l"/>
            <a:r>
              <a:rPr lang="es-CO" sz="1250" b="0" i="1" dirty="0">
                <a:solidFill>
                  <a:srgbClr val="5E6C7A"/>
                </a:solidFill>
                <a:latin typeface="Arial"/>
                <a:cs typeface="Arial"/>
              </a:rPr>
              <a:t>Situación del trabajo de cara a la pre-sustentación.</a:t>
            </a:r>
          </a:p>
        </p:txBody>
      </p:sp>
      <p:sp>
        <p:nvSpPr>
          <p:cNvPr id="103" name="Card"/>
          <p:cNvSpPr/>
          <p:nvPr/>
        </p:nvSpPr>
        <p:spPr>
          <a:xfrm>
            <a:off x="502920" y="1680000"/>
            <a:ext cx="5520000" cy="4560000"/>
          </a:xfrm>
          <a:prstGeom prst="roundRect">
            <a:avLst>
              <a:gd name="adj" fmla="val 2600"/>
            </a:avLst>
          </a:prstGeom>
          <a:solidFill>
            <a:srgbClr val="F3FAF4"/>
          </a:solidFill>
          <a:ln w="12700">
            <a:solidFill>
              <a:srgbClr val="BFE0C4"/>
            </a:solidFill>
            <a:prstDash val="solid"/>
          </a:ln>
          <a:effectLst>
            <a:outerShdw blurRad="25400" dist="50800" dir="2700000" algn="bl" rotWithShape="0">
              <a:srgbClr val="AAB6C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4" name="HeaderPill"/>
          <p:cNvSpPr/>
          <p:nvPr/>
        </p:nvSpPr>
        <p:spPr>
          <a:xfrm>
            <a:off x="640000" y="1820000"/>
            <a:ext cx="5240000" cy="360000"/>
          </a:xfrm>
          <a:prstGeom prst="roundRect">
            <a:avLst/>
          </a:prstGeom>
          <a:solidFill>
            <a:srgbClr val="005CAA"/>
          </a:solidFill>
          <a:ln>
            <a:solidFill>
              <a:srgbClr val="005CAA"/>
            </a:solidFill>
          </a:ln>
        </p:spPr>
        <p:txBody>
          <a:bodyPr rtlCol="0" anchor="ctr" lIns="109728"/>
          <a:lstStyle/>
          <a:p>
            <a:pPr algn="l"/>
            <a:r>
              <a:rPr lang="es-CO"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Terminado</a:t>
            </a:r>
          </a:p>
        </p:txBody>
      </p:sp>
      <p:sp>
        <p:nvSpPr>
          <p:cNvPr id="105" name="Oval"/>
          <p:cNvSpPr/>
          <p:nvPr/>
        </p:nvSpPr>
        <p:spPr>
          <a:xfrm>
            <a:off x="660000" y="2360000"/>
            <a:ext cx="300000" cy="300000"/>
          </a:xfrm>
          <a:prstGeom prst="ellipse">
            <a:avLst/>
          </a:prstGeom>
          <a:solidFill>
            <a:srgbClr val="E3F3E6"/>
          </a:solidFill>
          <a:ln>
            <a:solidFill>
              <a:srgbClr val="9BC9A3"/>
            </a:solidFill>
          </a:ln>
        </p:spPr>
        <p:txBody>
          <a:bodyPr rtlCol="0" anchor="ctr"/>
          <a:lstStyle/>
          <a:p>
            <a:pPr algn="ctr"/>
            <a:r>
              <a:rPr lang="es-CO" sz="1300" b="1" dirty="0">
                <a:solidFill>
                  <a:srgbClr val="2E7D46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06" name="TextBox"/>
          <p:cNvSpPr txBox="1"/>
          <p:nvPr/>
        </p:nvSpPr>
        <p:spPr>
          <a:xfrm>
            <a:off x="1080000" y="2320000"/>
            <a:ext cx="4840000" cy="78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1200" b="0" i="0" dirty="0">
                <a:solidFill>
                  <a:srgbClr val="1E3448"/>
                </a:solidFill>
                <a:latin typeface="Arial"/>
                <a:cs typeface="Arial"/>
              </a:rPr>
              <a:t>Formulación Cv,BIM implementada y evaluada frente a la base experimental.</a:t>
            </a:r>
          </a:p>
        </p:txBody>
      </p:sp>
      <p:sp>
        <p:nvSpPr>
          <p:cNvPr id="107" name="Oval"/>
          <p:cNvSpPr/>
          <p:nvPr/>
        </p:nvSpPr>
        <p:spPr>
          <a:xfrm>
            <a:off x="660000" y="3300000"/>
            <a:ext cx="300000" cy="300000"/>
          </a:xfrm>
          <a:prstGeom prst="ellipse">
            <a:avLst/>
          </a:prstGeom>
          <a:solidFill>
            <a:srgbClr val="E3F3E6"/>
          </a:solidFill>
          <a:ln>
            <a:solidFill>
              <a:srgbClr val="9BC9A3"/>
            </a:solidFill>
          </a:ln>
        </p:spPr>
        <p:txBody>
          <a:bodyPr rtlCol="0" anchor="ctr"/>
          <a:lstStyle/>
          <a:p>
            <a:pPr algn="ctr"/>
            <a:r>
              <a:rPr lang="es-CO" sz="1300" b="1" dirty="0">
                <a:solidFill>
                  <a:srgbClr val="2E7D46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08" name="TextBox"/>
          <p:cNvSpPr txBox="1"/>
          <p:nvPr/>
        </p:nvSpPr>
        <p:spPr>
          <a:xfrm>
            <a:off x="1080000" y="3260000"/>
            <a:ext cx="4840000" cy="78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1200" b="0" i="0" dirty="0">
                <a:solidFill>
                  <a:srgbClr val="1E3448"/>
                </a:solidFill>
                <a:latin typeface="Arial"/>
                <a:cs typeface="Arial"/>
              </a:rPr>
              <a:t>Modelos RS2 explícito y equivalente corridos para VBP 0/10/20/30 y los 6 esfuerzos.</a:t>
            </a:r>
          </a:p>
        </p:txBody>
      </p:sp>
      <p:sp>
        <p:nvSpPr>
          <p:cNvPr id="109" name="Oval"/>
          <p:cNvSpPr/>
          <p:nvPr/>
        </p:nvSpPr>
        <p:spPr>
          <a:xfrm>
            <a:off x="660000" y="4240000"/>
            <a:ext cx="300000" cy="300000"/>
          </a:xfrm>
          <a:prstGeom prst="ellipse">
            <a:avLst/>
          </a:prstGeom>
          <a:solidFill>
            <a:srgbClr val="E3F3E6"/>
          </a:solidFill>
          <a:ln>
            <a:solidFill>
              <a:srgbClr val="9BC9A3"/>
            </a:solidFill>
          </a:ln>
        </p:spPr>
        <p:txBody>
          <a:bodyPr rtlCol="0" anchor="ctr"/>
          <a:lstStyle/>
          <a:p>
            <a:pPr algn="ctr"/>
            <a:r>
              <a:rPr lang="es-CO" sz="1300" b="1" dirty="0">
                <a:solidFill>
                  <a:srgbClr val="2E7D46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10" name="TextBox"/>
          <p:cNvSpPr txBox="1"/>
          <p:nvPr/>
        </p:nvSpPr>
        <p:spPr>
          <a:xfrm>
            <a:off x="1080000" y="4200000"/>
            <a:ext cx="4840000" cy="78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1200" b="0" i="0" dirty="0">
                <a:solidFill>
                  <a:srgbClr val="1E3448"/>
                </a:solidFill>
                <a:latin typeface="Arial"/>
                <a:cs typeface="Arial"/>
              </a:rPr>
              <a:t>Base de datos consolidada (BASE_MAESTRA_BIMSOIL).</a:t>
            </a:r>
          </a:p>
        </p:txBody>
      </p:sp>
      <p:sp>
        <p:nvSpPr>
          <p:cNvPr id="111" name="Oval"/>
          <p:cNvSpPr/>
          <p:nvPr/>
        </p:nvSpPr>
        <p:spPr>
          <a:xfrm>
            <a:off x="660000" y="5180000"/>
            <a:ext cx="300000" cy="300000"/>
          </a:xfrm>
          <a:prstGeom prst="ellipse">
            <a:avLst/>
          </a:prstGeom>
          <a:solidFill>
            <a:srgbClr val="E3F3E6"/>
          </a:solidFill>
          <a:ln>
            <a:solidFill>
              <a:srgbClr val="9BC9A3"/>
            </a:solidFill>
          </a:ln>
        </p:spPr>
        <p:txBody>
          <a:bodyPr rtlCol="0" anchor="ctr"/>
          <a:lstStyle/>
          <a:p>
            <a:pPr algn="ctr"/>
            <a:r>
              <a:rPr lang="es-CO" sz="1300" b="1" dirty="0">
                <a:solidFill>
                  <a:srgbClr val="2E7D46"/>
                </a:solidFill>
                <a:latin typeface="Arial"/>
                <a:cs typeface="Arial"/>
              </a:rPr>
              <a:t>✓</a:t>
            </a:r>
          </a:p>
        </p:txBody>
      </p:sp>
      <p:sp>
        <p:nvSpPr>
          <p:cNvPr id="112" name="TextBox"/>
          <p:cNvSpPr txBox="1"/>
          <p:nvPr/>
        </p:nvSpPr>
        <p:spPr>
          <a:xfrm>
            <a:off x="1080000" y="5140000"/>
            <a:ext cx="4840000" cy="78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1200" b="0" i="0" dirty="0">
                <a:solidFill>
                  <a:srgbClr val="1E3448"/>
                </a:solidFill>
                <a:latin typeface="Arial"/>
                <a:cs typeface="Arial"/>
              </a:rPr>
              <a:t>Artículo redactado para la revista Soils and Rocks, con figuras a 500 dpi.</a:t>
            </a:r>
          </a:p>
        </p:txBody>
      </p:sp>
      <p:sp>
        <p:nvSpPr>
          <p:cNvPr id="113" name="Card"/>
          <p:cNvSpPr/>
          <p:nvPr/>
        </p:nvSpPr>
        <p:spPr>
          <a:xfrm>
            <a:off x="6168960" y="1680000"/>
            <a:ext cx="5520000" cy="4560000"/>
          </a:xfrm>
          <a:prstGeom prst="roundRect">
            <a:avLst>
              <a:gd name="adj" fmla="val 2600"/>
            </a:avLst>
          </a:prstGeom>
          <a:solidFill>
            <a:srgbClr val="FBF7EF"/>
          </a:solidFill>
          <a:ln w="12700">
            <a:solidFill>
              <a:srgbClr val="E6D7B3"/>
            </a:solidFill>
            <a:prstDash val="solid"/>
          </a:ln>
          <a:effectLst>
            <a:outerShdw blurRad="25400" dist="50800" dir="2700000" algn="bl" rotWithShape="0">
              <a:srgbClr val="AAB6C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14" name="HeaderPill"/>
          <p:cNvSpPr/>
          <p:nvPr/>
        </p:nvSpPr>
        <p:spPr>
          <a:xfrm>
            <a:off x="6306000" y="1820000"/>
            <a:ext cx="5240000" cy="360000"/>
          </a:xfrm>
          <a:prstGeom prst="roundRect">
            <a:avLst/>
          </a:prstGeom>
          <a:solidFill>
            <a:srgbClr val="005CAA"/>
          </a:solidFill>
          <a:ln>
            <a:solidFill>
              <a:srgbClr val="005CAA"/>
            </a:solidFill>
          </a:ln>
        </p:spPr>
        <p:txBody>
          <a:bodyPr rtlCol="0" anchor="ctr" lIns="109728"/>
          <a:lstStyle/>
          <a:p>
            <a:pPr algn="l"/>
            <a:r>
              <a:rPr lang="es-CO"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En curso / pendiente</a:t>
            </a:r>
          </a:p>
        </p:txBody>
      </p:sp>
      <p:sp>
        <p:nvSpPr>
          <p:cNvPr id="115" name="Oval"/>
          <p:cNvSpPr/>
          <p:nvPr/>
        </p:nvSpPr>
        <p:spPr>
          <a:xfrm>
            <a:off x="6326000" y="2400000"/>
            <a:ext cx="300000" cy="300000"/>
          </a:xfrm>
          <a:prstGeom prst="ellipse">
            <a:avLst/>
          </a:prstGeom>
          <a:solidFill>
            <a:srgbClr val="F6EDD6"/>
          </a:solidFill>
          <a:ln>
            <a:solidFill>
              <a:srgbClr val="D9BE86"/>
            </a:solidFill>
          </a:ln>
        </p:spPr>
        <p:txBody>
          <a:bodyPr rtlCol="0" anchor="ctr"/>
          <a:lstStyle/>
          <a:p>
            <a:pPr algn="ctr"/>
            <a:r>
              <a:rPr lang="es-CO" sz="1300" b="1" dirty="0">
                <a:solidFill>
                  <a:srgbClr val="8A6D00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16" name="TextBox"/>
          <p:cNvSpPr txBox="1"/>
          <p:nvPr/>
        </p:nvSpPr>
        <p:spPr>
          <a:xfrm>
            <a:off x="6746000" y="2360000"/>
            <a:ext cx="4780000" cy="56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1200" b="0" i="0" dirty="0">
                <a:solidFill>
                  <a:srgbClr val="1E3448"/>
                </a:solidFill>
                <a:latin typeface="Arial"/>
                <a:cs typeface="Arial"/>
              </a:rPr>
              <a:t>Revisión de los directores.</a:t>
            </a:r>
          </a:p>
        </p:txBody>
      </p:sp>
      <p:sp>
        <p:nvSpPr>
          <p:cNvPr id="117" name="Oval"/>
          <p:cNvSpPr/>
          <p:nvPr/>
        </p:nvSpPr>
        <p:spPr>
          <a:xfrm>
            <a:off x="6326000" y="3120000"/>
            <a:ext cx="300000" cy="300000"/>
          </a:xfrm>
          <a:prstGeom prst="ellipse">
            <a:avLst/>
          </a:prstGeom>
          <a:solidFill>
            <a:srgbClr val="F6EDD6"/>
          </a:solidFill>
          <a:ln>
            <a:solidFill>
              <a:srgbClr val="D9BE86"/>
            </a:solidFill>
          </a:ln>
        </p:spPr>
        <p:txBody>
          <a:bodyPr rtlCol="0" anchor="ctr"/>
          <a:lstStyle/>
          <a:p>
            <a:pPr algn="ctr"/>
            <a:r>
              <a:rPr lang="es-CO" sz="1300" b="1" dirty="0">
                <a:solidFill>
                  <a:srgbClr val="8A6D00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18" name="TextBox"/>
          <p:cNvSpPr txBox="1"/>
          <p:nvPr/>
        </p:nvSpPr>
        <p:spPr>
          <a:xfrm>
            <a:off x="6746000" y="3080000"/>
            <a:ext cx="4780000" cy="56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1200" b="0" i="0" dirty="0">
                <a:solidFill>
                  <a:srgbClr val="1E3448"/>
                </a:solidFill>
                <a:latin typeface="Arial"/>
                <a:cs typeface="Arial"/>
              </a:rPr>
              <a:t>Recorte al límite de palabras de la revista.</a:t>
            </a:r>
          </a:p>
        </p:txBody>
      </p:sp>
      <p:sp>
        <p:nvSpPr>
          <p:cNvPr id="119" name="Oval"/>
          <p:cNvSpPr/>
          <p:nvPr/>
        </p:nvSpPr>
        <p:spPr>
          <a:xfrm>
            <a:off x="6326000" y="3840000"/>
            <a:ext cx="300000" cy="300000"/>
          </a:xfrm>
          <a:prstGeom prst="ellipse">
            <a:avLst/>
          </a:prstGeom>
          <a:solidFill>
            <a:srgbClr val="F6EDD6"/>
          </a:solidFill>
          <a:ln>
            <a:solidFill>
              <a:srgbClr val="D9BE86"/>
            </a:solidFill>
          </a:ln>
        </p:spPr>
        <p:txBody>
          <a:bodyPr rtlCol="0" anchor="ctr"/>
          <a:lstStyle/>
          <a:p>
            <a:pPr algn="ctr"/>
            <a:r>
              <a:rPr lang="es-CO" sz="1300" b="1" dirty="0">
                <a:solidFill>
                  <a:srgbClr val="8A6D00"/>
                </a:solidFill>
                <a:latin typeface="Arial"/>
                <a:cs typeface="Arial"/>
              </a:rPr>
              <a:t>→</a:t>
            </a:r>
          </a:p>
        </p:txBody>
      </p:sp>
      <p:sp>
        <p:nvSpPr>
          <p:cNvPr id="120" name="TextBox"/>
          <p:cNvSpPr txBox="1"/>
          <p:nvPr/>
        </p:nvSpPr>
        <p:spPr>
          <a:xfrm>
            <a:off x="6746000" y="3800000"/>
            <a:ext cx="4780000" cy="56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1200" b="0" i="0" dirty="0">
                <a:solidFill>
                  <a:srgbClr val="1E3448"/>
                </a:solidFill>
                <a:latin typeface="Arial"/>
                <a:cs typeface="Arial"/>
              </a:rPr>
              <a:t>Ajustes finales de figuras.</a:t>
            </a:r>
          </a:p>
        </p:txBody>
      </p:sp>
      <p:sp>
        <p:nvSpPr>
          <p:cNvPr id="990" name="Slide Number Placeholder"/>
          <p:cNvSpPr>
            <a:spLocks noGrp="1"/>
          </p:cNvSpPr>
          <p:nvPr>
            <p:ph type="sldNum" sz="quarter" idx="4294967295"/>
          </p:nvPr>
        </p:nvSpPr>
        <p:spPr>
          <a:xfrm>
            <a:off x="11254048" y="6556248"/>
            <a:ext cx="560000" cy="182880"/>
          </a:xfrm>
          <a:prstGeom prst="rect">
            <a:avLst/>
          </a:prstGeom>
        </p:spPr>
        <p:txBody>
          <a:bodyPr lIns="0" tIns="0" rIns="0" bIns="0"/>
          <a:lstStyle>
            <a:lvl1pPr>
              <a:defRPr sz="750">
                <a:solidFill>
                  <a:srgbClr val="7A8794"/>
                </a:solidFill>
                <a:latin typeface="Arial"/>
              </a:defRPr>
            </a:lvl1pPr>
          </a:lstStyle>
          <a:p>
            <a:pPr algn="r"/>
            <a:fld id="{F7021451-1387-4CA6-816F-3879F97B5CBC}" type="slidenum">
              <a:rPr lang="es-CO"/>
              <a:t>0</a:t>
            </a:fld>
            <a:endParaRPr lang="es-CO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Card"/>
          <p:cNvSpPr/>
          <p:nvPr/>
        </p:nvSpPr>
        <p:spPr>
          <a:xfrm>
            <a:off x="1800000" y="2250000"/>
            <a:ext cx="8592000" cy="2100000"/>
          </a:xfrm>
          <a:prstGeom prst="roundRect">
            <a:avLst>
              <a:gd name="adj" fmla="val 3000"/>
            </a:avLst>
          </a:prstGeom>
          <a:solidFill>
            <a:srgbClr val="F2F8FD"/>
          </a:solidFill>
          <a:ln w="12700">
            <a:solidFill>
              <a:srgbClr val="C7DDEB"/>
            </a:solidFill>
            <a:prstDash val="solid"/>
          </a:ln>
          <a:effectLst>
            <a:outerShdw blurRad="25400" dist="50800" dir="2700000" algn="bl" rotWithShape="0">
              <a:srgbClr val="AAB6C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2" name="TextBox"/>
          <p:cNvSpPr txBox="1"/>
          <p:nvPr/>
        </p:nvSpPr>
        <p:spPr>
          <a:xfrm>
            <a:off x="1800000" y="2560000"/>
            <a:ext cx="8592000" cy="70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ctr"/>
            <a:r>
              <a:rPr lang="es-CO" sz="4000" b="1" i="0" dirty="0">
                <a:solidFill>
                  <a:srgbClr val="003F7D"/>
                </a:solidFill>
                <a:latin typeface="Times New Roman"/>
                <a:cs typeface="Times New Roman"/>
              </a:rPr>
              <a:t>Anexos  ·  Respaldo</a:t>
            </a:r>
          </a:p>
        </p:txBody>
      </p:sp>
      <p:sp>
        <p:nvSpPr>
          <p:cNvPr id="103" name="TextBox"/>
          <p:cNvSpPr txBox="1"/>
          <p:nvPr/>
        </p:nvSpPr>
        <p:spPr>
          <a:xfrm>
            <a:off x="2200000" y="3420000"/>
            <a:ext cx="7792000" cy="76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ctr"/>
            <a:r>
              <a:rPr lang="es-CO" sz="1300" b="0" i="1" dirty="0">
                <a:solidFill>
                  <a:srgbClr val="5E6C7A"/>
                </a:solidFill>
                <a:latin typeface="Arial"/>
                <a:cs typeface="Arial"/>
              </a:rPr>
              <a:t>Material de soporte: sensibilidad de λ*, trayectorias e–log σ′, construcciones gráficas de los métodos (inflexión, Taylor y Casagrande) y tendencias de los tiempos con la VBP.</a:t>
            </a:r>
          </a:p>
        </p:txBody>
      </p:sp>
      <p:sp>
        <p:nvSpPr>
          <p:cNvPr id="990" name="Slide Number Placeholder"/>
          <p:cNvSpPr>
            <a:spLocks noGrp="1"/>
          </p:cNvSpPr>
          <p:nvPr>
            <p:ph type="sldNum" sz="quarter" idx="4294967295"/>
          </p:nvPr>
        </p:nvSpPr>
        <p:spPr>
          <a:xfrm>
            <a:off x="11254048" y="6556248"/>
            <a:ext cx="560000" cy="182880"/>
          </a:xfrm>
          <a:prstGeom prst="rect">
            <a:avLst/>
          </a:prstGeom>
        </p:spPr>
        <p:txBody>
          <a:bodyPr lIns="0" tIns="0" rIns="0" bIns="0"/>
          <a:lstStyle>
            <a:lvl1pPr>
              <a:defRPr sz="750">
                <a:solidFill>
                  <a:srgbClr val="7A8794"/>
                </a:solidFill>
                <a:latin typeface="Arial"/>
              </a:defRPr>
            </a:lvl1pPr>
          </a:lstStyle>
          <a:p>
            <a:pPr algn="r"/>
            <a:fld id="{F7021451-1387-4CA6-816F-3879F97B5CBC}" type="slidenum">
              <a:rPr lang="es-CO"/>
              <a:t>0</a:t>
            </a:fld>
            <a:endParaRPr lang="es-CO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"/>
          <p:cNvSpPr txBox="1"/>
          <p:nvPr/>
        </p:nvSpPr>
        <p:spPr>
          <a:xfrm>
            <a:off x="502920" y="658368"/>
            <a:ext cx="10972800" cy="402336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l"/>
            <a:r>
              <a:rPr lang="es-CO" sz="2100" b="1" i="0" dirty="0">
                <a:solidFill>
                  <a:srgbClr val="003F7D"/>
                </a:solidFill>
                <a:latin typeface="Times New Roman"/>
                <a:cs typeface="Times New Roman"/>
              </a:rPr>
              <a:t>Respaldo — sensibilidad de λ* (VBP 0 %)</a:t>
            </a:r>
          </a:p>
        </p:txBody>
      </p:sp>
      <p:sp>
        <p:nvSpPr>
          <p:cNvPr id="102" name="Card"/>
          <p:cNvSpPr/>
          <p:nvPr/>
        </p:nvSpPr>
        <p:spPr>
          <a:xfrm>
            <a:off x="502920" y="1143000"/>
            <a:ext cx="1965960" cy="310896"/>
          </a:xfrm>
          <a:prstGeom prst="roundRect">
            <a:avLst/>
          </a:prstGeom>
          <a:solidFill>
            <a:srgbClr val="EAF3FA"/>
          </a:solidFill>
          <a:ln w="8890">
            <a:solidFill>
              <a:srgbClr val="C6DF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3" name="TextBox"/>
          <p:cNvSpPr txBox="1"/>
          <p:nvPr/>
        </p:nvSpPr>
        <p:spPr>
          <a:xfrm>
            <a:off x="621792" y="1180000"/>
            <a:ext cx="1737360" cy="250000"/>
          </a:xfrm>
          <a:prstGeom prst="rect">
            <a:avLst/>
          </a:prstGeom>
          <a:noFill/>
        </p:spPr>
        <p:txBody>
          <a:bodyPr wrap="square" lIns="36576" tIns="18288" rIns="36576" bIns="18288" rtlCol="0" anchor="ctr"/>
          <a:lstStyle/>
          <a:p>
            <a:pPr algn="l"/>
            <a:r>
              <a:rPr lang="es-CO" sz="950" b="1" i="0" dirty="0">
                <a:solidFill>
                  <a:srgbClr val="003F7D"/>
                </a:solidFill>
                <a:latin typeface="Arial"/>
                <a:cs typeface="Arial"/>
              </a:rPr>
              <a:t>CALIBRACIÓN DEL CASO BASE</a:t>
            </a:r>
          </a:p>
        </p:txBody>
      </p:sp>
      <p:sp>
        <p:nvSpPr>
          <p:cNvPr id="104" name="Card"/>
          <p:cNvSpPr/>
          <p:nvPr/>
        </p:nvSpPr>
        <p:spPr>
          <a:xfrm>
            <a:off x="384048" y="1560000"/>
            <a:ext cx="7700000" cy="4560000"/>
          </a:xfrm>
          <a:prstGeom prst="roundRect">
            <a:avLst>
              <a:gd name="adj" fmla="val 2600"/>
            </a:avLst>
          </a:prstGeom>
          <a:solidFill>
            <a:srgbClr val="FAFCFE"/>
          </a:solidFill>
          <a:ln w="12700">
            <a:solidFill>
              <a:srgbClr val="C7DDEB"/>
            </a:solidFill>
            <a:prstDash val="solid"/>
          </a:ln>
          <a:effectLst>
            <a:outerShdw blurRad="25400" dist="50800" dir="2700000" algn="bl" rotWithShape="0">
              <a:srgbClr val="AAB6C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pic>
        <p:nvPicPr>
          <p:cNvPr id="105" name="LambdaSe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048" y="1760000"/>
            <a:ext cx="7000000" cy="4235000"/>
          </a:xfrm>
          <a:prstGeom prst="rect">
            <a:avLst/>
          </a:prstGeom>
        </p:spPr>
      </p:pic>
      <p:sp>
        <p:nvSpPr>
          <p:cNvPr id="106" name="TextBox"/>
          <p:cNvSpPr txBox="1"/>
          <p:nvPr/>
        </p:nvSpPr>
        <p:spPr>
          <a:xfrm>
            <a:off x="520000" y="6115000"/>
            <a:ext cx="7420000" cy="30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algn="l"/>
            <a:r>
              <a:rPr lang="es-CO" sz="900" b="0" i="1" dirty="0">
                <a:solidFill>
                  <a:srgbClr val="5E6C7A"/>
                </a:solidFill>
                <a:latin typeface="Arial"/>
                <a:cs typeface="Arial"/>
              </a:rPr>
              <a:t>Fuente: elaboración propia — RS2 Soft Soil (VBP0) vs. datos experimentales de Clavijo R. (2022).</a:t>
            </a:r>
          </a:p>
        </p:txBody>
      </p:sp>
      <p:sp>
        <p:nvSpPr>
          <p:cNvPr id="107" name="Card"/>
          <p:cNvSpPr/>
          <p:nvPr/>
        </p:nvSpPr>
        <p:spPr>
          <a:xfrm>
            <a:off x="8220000" y="1560000"/>
            <a:ext cx="3587952" cy="4560000"/>
          </a:xfrm>
          <a:prstGeom prst="roundRect">
            <a:avLst>
              <a:gd name="adj" fmla="val 3000"/>
            </a:avLst>
          </a:prstGeom>
          <a:solidFill>
            <a:srgbClr val="F2F8FD"/>
          </a:solidFill>
          <a:ln w="12700">
            <a:solidFill>
              <a:srgbClr val="C7DDEB"/>
            </a:solidFill>
            <a:prstDash val="solid"/>
          </a:ln>
          <a:effectLst>
            <a:outerShdw blurRad="25400" dist="50800" dir="2700000" algn="bl" rotWithShape="0">
              <a:srgbClr val="AAB6C0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08" name="HeaderPill"/>
          <p:cNvSpPr/>
          <p:nvPr/>
        </p:nvSpPr>
        <p:spPr>
          <a:xfrm>
            <a:off x="8360000" y="1700000"/>
            <a:ext cx="3300000" cy="360000"/>
          </a:xfrm>
          <a:prstGeom prst="roundRect">
            <a:avLst/>
          </a:prstGeom>
          <a:solidFill>
            <a:srgbClr val="005CAA"/>
          </a:solidFill>
          <a:ln>
            <a:solidFill>
              <a:srgbClr val="005CAA"/>
            </a:solidFill>
          </a:ln>
        </p:spPr>
        <p:txBody>
          <a:bodyPr rtlCol="0" anchor="ctr" lIns="109728"/>
          <a:lstStyle/>
          <a:p>
            <a:pPr algn="l"/>
            <a:r>
              <a:rPr lang="es-CO" sz="1300" b="1" dirty="0">
                <a:solidFill>
                  <a:srgbClr val="FFFFFF"/>
                </a:solidFill>
                <a:latin typeface="Times New Roman"/>
                <a:cs typeface="Times New Roman"/>
              </a:rPr>
              <a:t>¿Por qué λ* = 0.0245?</a:t>
            </a:r>
          </a:p>
        </p:txBody>
      </p:sp>
      <p:sp>
        <p:nvSpPr>
          <p:cNvPr id="109" name="TextBox"/>
          <p:cNvSpPr txBox="1"/>
          <p:nvPr/>
        </p:nvSpPr>
        <p:spPr>
          <a:xfrm>
            <a:off x="8360000" y="2200000"/>
            <a:ext cx="3320000" cy="3800000"/>
          </a:xfrm>
          <a:prstGeom prst="rect">
            <a:avLst/>
          </a:prstGeom>
          <a:noFill/>
        </p:spPr>
        <p:txBody>
          <a:bodyPr wrap="square" lIns="36576" tIns="18288" rIns="36576" bIns="18288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s-CO" sz="1250" b="1" i="0" dirty="0">
                <a:solidFill>
                  <a:srgbClr val="003F7D"/>
                </a:solidFill>
                <a:latin typeface="Times New Roman"/>
                <a:cs typeface="Times New Roman"/>
              </a:rPr>
              <a:t>Justificación del valor base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s-CO" sz="1150" b="0" i="0" dirty="0">
                <a:solidFill>
                  <a:srgbClr val="1E3448"/>
                </a:solidFill>
                <a:latin typeface="Arial"/>
                <a:cs typeface="Arial"/>
              </a:rPr>
              <a:t>El λ* base se eligió por un estudio de sensibilidad contra la historia completa de asentamiento, no solo por la pendiente virgen.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s-CO" sz="1150" b="0" i="0" dirty="0">
                <a:solidFill>
                  <a:srgbClr val="1E3448"/>
                </a:solidFill>
                <a:latin typeface="Arial"/>
                <a:cs typeface="Arial"/>
              </a:rPr>
              <a:t>Expresado sobre la base de compresión virgen sería ≈ 0.035; el valor congelado (0.0245) es deliberadamente menos compresible y reproduce mejor la respuesta carga–descarga.</a:t>
            </a:r>
          </a:p>
          <a:p>
            <a:pPr marL="0" indent="0" algn="l">
              <a:spcAft>
                <a:spcPts val="0"/>
              </a:spcAft>
              <a:buNone/>
            </a:pPr>
            <a:r>
              <a:rPr lang="es-CO" sz="1150" b="0" i="1" dirty="0">
                <a:solidFill>
                  <a:srgbClr val="005CAA"/>
                </a:solidFill>
                <a:latin typeface="Arial"/>
                <a:cs typeface="Arial"/>
              </a:rPr>
              <a:t>Sustenta la fila VBP0 de la Tabla 2 (base calibrada).</a:t>
            </a:r>
          </a:p>
        </p:txBody>
      </p:sp>
      <p:sp>
        <p:nvSpPr>
          <p:cNvPr id="990" name="Slide Number Placeholder"/>
          <p:cNvSpPr>
            <a:spLocks noGrp="1"/>
          </p:cNvSpPr>
          <p:nvPr>
            <p:ph type="sldNum" sz="quarter" idx="4294967295"/>
          </p:nvPr>
        </p:nvSpPr>
        <p:spPr>
          <a:xfrm>
            <a:off x="11254048" y="6556248"/>
            <a:ext cx="560000" cy="182880"/>
          </a:xfrm>
          <a:prstGeom prst="rect">
            <a:avLst/>
          </a:prstGeom>
        </p:spPr>
        <p:txBody>
          <a:bodyPr lIns="0" tIns="0" rIns="0" bIns="0"/>
          <a:lstStyle>
            <a:lvl1pPr>
              <a:defRPr sz="750">
                <a:solidFill>
                  <a:srgbClr val="7A8794"/>
                </a:solidFill>
                <a:latin typeface="Arial"/>
              </a:defRPr>
            </a:lvl1pPr>
          </a:lstStyle>
          <a:p>
            <a:pPr algn="r"/>
            <a:fld id="{F7021451-1387-4CA6-816F-3879F97B5CBC}" type="slidenum">
              <a:rPr lang="es-CO"/>
              <a:t>0</a:t>
            </a:fld>
            <a:endParaRPr lang="es-C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1315</Words>
  <Application>Microsoft Office PowerPoint</Application>
  <PresentationFormat>Panorámica</PresentationFormat>
  <Paragraphs>200</Paragraphs>
  <Slides>21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9" baseType="lpstr">
      <vt:lpstr>Aptos</vt:lpstr>
      <vt:lpstr>Arial</vt:lpstr>
      <vt:lpstr>Calibri</vt:lpstr>
      <vt:lpstr>Open Sans</vt:lpstr>
      <vt:lpstr>Poppins</vt:lpstr>
      <vt:lpstr>Poppins Bold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OMAR</dc:creator>
  <cp:keywords/>
  <dc:description>generated using python-pptx</dc:description>
  <cp:lastModifiedBy>Omar Maestre</cp:lastModifiedBy>
  <cp:revision>10</cp:revision>
  <dcterms:created xsi:type="dcterms:W3CDTF">2013-01-27T09:14:16Z</dcterms:created>
  <dcterms:modified xsi:type="dcterms:W3CDTF">2026-10-02T14:26:49Z</dcterms:modified>
  <cp:category/>
</cp:coreProperties>
</file>